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4" r:id="rId5"/>
    <p:sldId id="265" r:id="rId6"/>
    <p:sldId id="259" r:id="rId7"/>
    <p:sldId id="267" r:id="rId8"/>
    <p:sldId id="268" r:id="rId9"/>
    <p:sldId id="269" r:id="rId10"/>
    <p:sldId id="266" r:id="rId11"/>
    <p:sldId id="270" r:id="rId12"/>
    <p:sldId id="271" r:id="rId13"/>
    <p:sldId id="260" r:id="rId14"/>
    <p:sldId id="275" r:id="rId15"/>
    <p:sldId id="276" r:id="rId16"/>
    <p:sldId id="278" r:id="rId17"/>
    <p:sldId id="277" r:id="rId18"/>
    <p:sldId id="261" r:id="rId19"/>
    <p:sldId id="262" r:id="rId20"/>
    <p:sldId id="279" r:id="rId21"/>
    <p:sldId id="280" r:id="rId22"/>
    <p:sldId id="281" r:id="rId23"/>
    <p:sldId id="263" r:id="rId24"/>
    <p:sldId id="282"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0" d="100"/>
          <a:sy n="90" d="100"/>
        </p:scale>
        <p:origin x="1234" y="67"/>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54FF1019-C833-4613-B2CC-D488FA9A81C2}" type="datetimeFigureOut">
              <a:rPr lang="en-US" smtClean="0"/>
              <a:t>11/20/2025</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58F963D4-B1B4-4F76-B2A5-8240CE119CA7}" type="slidenum">
              <a:rPr lang="en-US" smtClean="0"/>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54FF1019-C833-4613-B2CC-D488FA9A81C2}" type="datetimeFigureOut">
              <a:rPr lang="en-US" smtClean="0"/>
              <a:t>11/20/2025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F963D4-B1B4-4F76-B2A5-8240CE119CA7}" type="slidenum">
              <a:rPr lang="en-US" smtClean="0"/>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54FF1019-C833-4613-B2CC-D488FA9A81C2}" type="datetimeFigureOut">
              <a:rPr lang="en-US" smtClean="0"/>
              <a:t>11/20/2025</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58F963D4-B1B4-4F76-B2A5-8240CE119CA7}"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54FF1019-C833-4613-B2CC-D488FA9A81C2}" type="datetimeFigureOut">
              <a:rPr lang="en-US" smtClean="0"/>
              <a:t>11/20/2025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8F963D4-B1B4-4F76-B2A5-8240CE119CA7}" type="slidenum">
              <a:rPr lang="en-US" smtClean="0"/>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54FF1019-C833-4613-B2CC-D488FA9A81C2}" type="datetimeFigureOut">
              <a:rPr lang="en-US" smtClean="0"/>
              <a:t>11/20/2025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8F963D4-B1B4-4F76-B2A5-8240CE119CA7}" type="slidenum">
              <a:rPr lang="en-US" smtClean="0"/>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54FF1019-C833-4613-B2CC-D488FA9A81C2}" type="datetimeFigureOut">
              <a:rPr lang="en-US" smtClean="0"/>
              <a:t>11/20/2025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8F963D4-B1B4-4F76-B2A5-8240CE119CA7}"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FF1019-C833-4613-B2CC-D488FA9A81C2}" type="datetimeFigureOut">
              <a:rPr lang="en-US" smtClean="0"/>
              <a:t>11/20/2025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8F963D4-B1B4-4F76-B2A5-8240CE119CA7}"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54FF1019-C833-4613-B2CC-D488FA9A81C2}" type="datetimeFigureOut">
              <a:rPr lang="en-US" smtClean="0"/>
              <a:t>11/20/2025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8F963D4-B1B4-4F76-B2A5-8240CE119CA7}" type="slidenum">
              <a:rPr lang="en-US" smtClean="0"/>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54FF1019-C833-4613-B2CC-D488FA9A81C2}" type="datetimeFigureOut">
              <a:rPr lang="en-US" smtClean="0"/>
              <a:t>11/20/2025</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58F963D4-B1B4-4F76-B2A5-8240CE119CA7}" type="slidenum">
              <a:rPr lang="en-US" smtClean="0"/>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54FF1019-C833-4613-B2CC-D488FA9A81C2}" type="datetimeFigureOut">
              <a:rPr lang="en-US" smtClean="0"/>
              <a:t>11/20/2025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F963D4-B1B4-4F76-B2A5-8240CE119CA7}"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54FF1019-C833-4613-B2CC-D488FA9A81C2}" type="datetimeFigureOut">
              <a:rPr lang="en-US" smtClean="0"/>
              <a:t>11/20/2025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F963D4-B1B4-4F76-B2A5-8240CE119CA7}"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54FF1019-C833-4613-B2CC-D488FA9A81C2}" type="datetimeFigureOut">
              <a:rPr lang="en-US" smtClean="0"/>
              <a:t>11/20/2025</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58F963D4-B1B4-4F76-B2A5-8240CE119CA7}"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4.wmf"/><Relationship Id="rId3" Type="http://schemas.openxmlformats.org/officeDocument/2006/relationships/image" Target="../media/image4.png"/><Relationship Id="rId7" Type="http://schemas.openxmlformats.org/officeDocument/2006/relationships/oleObject" Target="../embeddings/oleObject2.bin"/><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wmf"/><Relationship Id="rId4"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95400" y="3200400"/>
            <a:ext cx="6400800" cy="2895600"/>
          </a:xfrm>
        </p:spPr>
        <p:txBody>
          <a:bodyPr>
            <a:normAutofit/>
          </a:bodyPr>
          <a:lstStyle/>
          <a:p>
            <a:pPr algn="l"/>
            <a:r>
              <a:rPr lang="en-US" i="1" dirty="0"/>
              <a:t>Lecture 5</a:t>
            </a:r>
          </a:p>
          <a:p>
            <a:pPr algn="l"/>
            <a:endParaRPr lang="en-US" i="1" dirty="0"/>
          </a:p>
          <a:p>
            <a:pPr algn="l"/>
            <a:r>
              <a:rPr lang="en-US" i="1" dirty="0"/>
              <a:t>Mentor: Pham Xuan Truong</a:t>
            </a:r>
          </a:p>
          <a:p>
            <a:pPr algn="l"/>
            <a:r>
              <a:rPr lang="en-US" i="1" dirty="0"/>
              <a:t>(truongpx@ftu.edu.vn)</a:t>
            </a:r>
          </a:p>
        </p:txBody>
      </p:sp>
      <p:sp>
        <p:nvSpPr>
          <p:cNvPr id="2" name="Title 1"/>
          <p:cNvSpPr>
            <a:spLocks noGrp="1"/>
          </p:cNvSpPr>
          <p:nvPr>
            <p:ph type="ctrTitle"/>
          </p:nvPr>
        </p:nvSpPr>
        <p:spPr/>
        <p:txBody>
          <a:bodyPr/>
          <a:lstStyle/>
          <a:p>
            <a:r>
              <a:rPr lang="en-US" dirty="0">
                <a:latin typeface="Times New Roman" panose="02020603050405020304" pitchFamily="18" charset="0"/>
                <a:cs typeface="Times New Roman" panose="02020603050405020304" pitchFamily="18" charset="0"/>
              </a:rPr>
              <a:t>Consumption</a:t>
            </a:r>
          </a:p>
        </p:txBody>
      </p:sp>
    </p:spTree>
    <p:extLst>
      <p:ext uri="{BB962C8B-B14F-4D97-AF65-F5344CB8AC3E}">
        <p14:creationId xmlns:p14="http://schemas.microsoft.com/office/powerpoint/2010/main" val="3438797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Content</a:t>
            </a:r>
          </a:p>
        </p:txBody>
      </p:sp>
      <p:sp>
        <p:nvSpPr>
          <p:cNvPr id="3" name="Content Placeholder 2"/>
          <p:cNvSpPr>
            <a:spLocks noGrp="1"/>
          </p:cNvSpPr>
          <p:nvPr>
            <p:ph sz="quarter" idx="1"/>
          </p:nvPr>
        </p:nvSpPr>
        <p:spPr/>
        <p:txBody>
          <a:bodyPr/>
          <a:lstStyle/>
          <a:p>
            <a:pPr marL="0" indent="0">
              <a:buNone/>
            </a:pPr>
            <a:r>
              <a:rPr lang="en-US" dirty="0"/>
              <a:t>I John Maynard Keynes and the consumption function</a:t>
            </a:r>
          </a:p>
          <a:p>
            <a:pPr marL="0" indent="0">
              <a:buNone/>
            </a:pPr>
            <a:r>
              <a:rPr lang="en-US" dirty="0"/>
              <a:t>II Irving Fisher and Inter-temporal choice</a:t>
            </a:r>
          </a:p>
          <a:p>
            <a:pPr marL="0" indent="0">
              <a:buNone/>
            </a:pPr>
            <a:r>
              <a:rPr lang="en-US" dirty="0"/>
              <a:t>III Franco Modigliani and the life – cycle hypothesis</a:t>
            </a:r>
          </a:p>
          <a:p>
            <a:pPr marL="0" indent="0">
              <a:buNone/>
            </a:pPr>
            <a:r>
              <a:rPr lang="en-US" dirty="0"/>
              <a:t>IV Milton Friedman and the Permanent – Income Hypothesis</a:t>
            </a:r>
          </a:p>
          <a:p>
            <a:pPr marL="0" indent="0">
              <a:buNone/>
            </a:pPr>
            <a:r>
              <a:rPr lang="en-US" dirty="0"/>
              <a:t>V Other modern consumption models</a:t>
            </a:r>
          </a:p>
          <a:p>
            <a:pPr marL="0" indent="0">
              <a:buNone/>
            </a:pPr>
            <a:endParaRPr lang="en-US" dirty="0"/>
          </a:p>
        </p:txBody>
      </p:sp>
    </p:spTree>
    <p:extLst>
      <p:ext uri="{BB962C8B-B14F-4D97-AF65-F5344CB8AC3E}">
        <p14:creationId xmlns:p14="http://schemas.microsoft.com/office/powerpoint/2010/main" val="30301550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152400"/>
            <a:ext cx="7772400" cy="1143000"/>
          </a:xfrm>
        </p:spPr>
        <p:txBody>
          <a:bodyPr>
            <a:normAutofit fontScale="90000"/>
          </a:bodyPr>
          <a:lstStyle/>
          <a:p>
            <a:r>
              <a:rPr lang="en-US" dirty="0"/>
              <a:t>I John Maynard Keynes and the consumption function</a:t>
            </a:r>
          </a:p>
        </p:txBody>
      </p:sp>
      <p:sp>
        <p:nvSpPr>
          <p:cNvPr id="3" name="Content Placeholder 2"/>
          <p:cNvSpPr>
            <a:spLocks noGrp="1"/>
          </p:cNvSpPr>
          <p:nvPr>
            <p:ph sz="quarter" idx="1"/>
          </p:nvPr>
        </p:nvSpPr>
        <p:spPr>
          <a:xfrm>
            <a:off x="381000" y="1447800"/>
            <a:ext cx="8305800" cy="4953000"/>
          </a:xfrm>
        </p:spPr>
        <p:txBody>
          <a:bodyPr>
            <a:normAutofit lnSpcReduction="10000"/>
          </a:bodyPr>
          <a:lstStyle/>
          <a:p>
            <a:r>
              <a:rPr lang="en-US" altLang="en-US" dirty="0"/>
              <a:t>The consumption function was central to Keynes’ theory of economic fluctuations presented in </a:t>
            </a:r>
            <a:r>
              <a:rPr lang="en-US" altLang="en-US" i="1" dirty="0"/>
              <a:t>The General Theory</a:t>
            </a:r>
            <a:r>
              <a:rPr lang="en-US" altLang="en-US" dirty="0"/>
              <a:t> in 1936.</a:t>
            </a:r>
          </a:p>
          <a:p>
            <a:pPr marL="0" indent="0">
              <a:buNone/>
            </a:pPr>
            <a:r>
              <a:rPr lang="en-US" altLang="en-US" dirty="0"/>
              <a:t>+ Keynes conjectured that the </a:t>
            </a:r>
            <a:r>
              <a:rPr lang="en-US" altLang="en-US" b="1" i="1" dirty="0"/>
              <a:t>marginal propensity to consume</a:t>
            </a:r>
            <a:r>
              <a:rPr lang="en-US" altLang="en-US" dirty="0">
                <a:latin typeface=""/>
              </a:rPr>
              <a:t>—</a:t>
            </a:r>
            <a:r>
              <a:rPr lang="en-US" altLang="en-US" dirty="0"/>
              <a:t> the amount consumed out of an additional dollar of income is between zero and one. He claimed that the fundamental law is that out of every dollar of earned income, people will consume part of it and save the rest.</a:t>
            </a:r>
          </a:p>
          <a:p>
            <a:pPr marL="0" indent="0">
              <a:buNone/>
            </a:pPr>
            <a:r>
              <a:rPr lang="en-US" altLang="en-US" dirty="0"/>
              <a:t>+ Keynes also proposed the </a:t>
            </a:r>
            <a:r>
              <a:rPr lang="en-US" altLang="en-US" b="1" i="1" dirty="0"/>
              <a:t>average propensity to consume, </a:t>
            </a:r>
            <a:r>
              <a:rPr lang="en-US" altLang="en-US" dirty="0"/>
              <a:t>the</a:t>
            </a:r>
            <a:r>
              <a:rPr lang="en-US" altLang="en-US" i="1" dirty="0"/>
              <a:t> </a:t>
            </a:r>
            <a:r>
              <a:rPr lang="en-US" altLang="en-US" dirty="0"/>
              <a:t>ratio of consumption to income falls as income rises. </a:t>
            </a:r>
          </a:p>
          <a:p>
            <a:pPr marL="0" indent="0">
              <a:buNone/>
            </a:pPr>
            <a:r>
              <a:rPr lang="en-US" altLang="en-US" dirty="0"/>
              <a:t>+ Keynes also held that income is the primary determinant of consumption and that the interest rate does not have an important role.</a:t>
            </a:r>
          </a:p>
          <a:p>
            <a:endParaRPr lang="en-US" dirty="0"/>
          </a:p>
        </p:txBody>
      </p:sp>
    </p:spTree>
    <p:extLst>
      <p:ext uri="{BB962C8B-B14F-4D97-AF65-F5344CB8AC3E}">
        <p14:creationId xmlns:p14="http://schemas.microsoft.com/office/powerpoint/2010/main" val="217397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a:xfrm>
                <a:off x="228600" y="1524000"/>
                <a:ext cx="7772400" cy="4572000"/>
              </a:xfrm>
            </p:spPr>
            <p:txBody>
              <a:bodyPr/>
              <a:lstStyle/>
              <a:p>
                <a:r>
                  <a:rPr lang="en-US" b="1" dirty="0"/>
                  <a:t>Form of Keynes’ consumption function</a:t>
                </a:r>
              </a:p>
              <a:p>
                <a:endParaRPr lang="en-US" dirty="0"/>
              </a:p>
              <a:p>
                <a:endParaRPr lang="en-US" dirty="0"/>
              </a:p>
              <a:p>
                <a:pPr marL="0" indent="0">
                  <a:buNone/>
                </a:pPr>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a:rPr>
                          <m:t>𝐶</m:t>
                        </m:r>
                      </m:e>
                    </m:acc>
                  </m:oMath>
                </a14:m>
                <a:r>
                  <a:rPr lang="en-US" dirty="0"/>
                  <a:t> autonomous consumption of household</a:t>
                </a:r>
              </a:p>
              <a:p>
                <a:pPr marL="0" indent="0">
                  <a:buNone/>
                </a:pPr>
                <a:r>
                  <a:rPr lang="en-US" dirty="0"/>
                  <a:t>MPC marginal propensity to consume</a:t>
                </a:r>
              </a:p>
              <a:p>
                <a:pPr marL="0" indent="0">
                  <a:buNone/>
                </a:pPr>
                <a:r>
                  <a:rPr lang="en-US" dirty="0" err="1"/>
                  <a:t>Y</a:t>
                </a:r>
                <a:r>
                  <a:rPr lang="en-US" sz="2000" dirty="0" err="1"/>
                  <a:t>d</a:t>
                </a:r>
                <a:r>
                  <a:rPr lang="en-US" dirty="0"/>
                  <a:t> disposable income (after-tax income)</a:t>
                </a:r>
              </a:p>
              <a:p>
                <a:pPr marL="0" indent="0">
                  <a:buNone/>
                </a:pPr>
                <a:endParaRPr lang="en-US" dirty="0"/>
              </a:p>
              <a:p>
                <a:pPr marL="0" indent="0">
                  <a:buNone/>
                </a:pPr>
                <a:endParaRPr lang="en-US" dirty="0"/>
              </a:p>
              <a:p>
                <a:pPr marL="0" indent="0">
                  <a:buNone/>
                </a:pPr>
                <a:r>
                  <a:rPr lang="en-US" dirty="0"/>
                  <a:t>APC average propensity to consume</a:t>
                </a: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xfrm>
                <a:off x="228600" y="1524000"/>
                <a:ext cx="7772400" cy="4572000"/>
              </a:xfrm>
              <a:blipFill rotWithShape="1">
                <a:blip r:embed="rId3"/>
                <a:stretch>
                  <a:fillRect l="-1412" t="-1067"/>
                </a:stretch>
              </a:blipFill>
            </p:spPr>
            <p:txBody>
              <a:bodyPr/>
              <a:lstStyle/>
              <a:p>
                <a:r>
                  <a:rPr lang="en-US">
                    <a:noFill/>
                  </a:rPr>
                  <a:t> </a:t>
                </a:r>
              </a:p>
            </p:txBody>
          </p:sp>
        </mc:Fallback>
      </mc:AlternateContent>
      <p:sp>
        <p:nvSpPr>
          <p:cNvPr id="4" name="Title 1"/>
          <p:cNvSpPr>
            <a:spLocks noGrp="1"/>
          </p:cNvSpPr>
          <p:nvPr>
            <p:ph type="title"/>
          </p:nvPr>
        </p:nvSpPr>
        <p:spPr/>
        <p:txBody>
          <a:bodyPr>
            <a:normAutofit fontScale="90000"/>
          </a:bodyPr>
          <a:lstStyle/>
          <a:p>
            <a:r>
              <a:rPr lang="en-US" dirty="0"/>
              <a:t>I John Maynard Keynes and the consumption function</a:t>
            </a:r>
          </a:p>
        </p:txBody>
      </p:sp>
      <p:graphicFrame>
        <p:nvGraphicFramePr>
          <p:cNvPr id="5" name="Object 4"/>
          <p:cNvGraphicFramePr>
            <a:graphicFrameLocks noChangeAspect="1"/>
          </p:cNvGraphicFramePr>
          <p:nvPr>
            <p:extLst>
              <p:ext uri="{D42A27DB-BD31-4B8C-83A1-F6EECF244321}">
                <p14:modId xmlns:p14="http://schemas.microsoft.com/office/powerpoint/2010/main" val="1377118060"/>
              </p:ext>
            </p:extLst>
          </p:nvPr>
        </p:nvGraphicFramePr>
        <p:xfrm>
          <a:off x="1295400" y="2133600"/>
          <a:ext cx="3384550" cy="609600"/>
        </p:xfrm>
        <a:graphic>
          <a:graphicData uri="http://schemas.openxmlformats.org/presentationml/2006/ole">
            <mc:AlternateContent xmlns:mc="http://schemas.openxmlformats.org/markup-compatibility/2006">
              <mc:Choice xmlns:v="urn:schemas-microsoft-com:vml" Requires="v">
                <p:oleObj name="Equation" r:id="rId4" imgW="1054100" imgH="254000" progId="Equation.3">
                  <p:embed/>
                </p:oleObj>
              </mc:Choice>
              <mc:Fallback>
                <p:oleObj name="Equation" r:id="rId4" imgW="1054100" imgH="254000"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95400" y="2133600"/>
                        <a:ext cx="3384550" cy="609600"/>
                      </a:xfrm>
                      <a:prstGeom prst="rect">
                        <a:avLst/>
                      </a:prstGeom>
                      <a:noFill/>
                      <a:ln>
                        <a:noFill/>
                      </a:ln>
                    </p:spPr>
                  </p:pic>
                </p:oleObj>
              </mc:Fallback>
            </mc:AlternateContent>
          </a:graphicData>
        </a:graphic>
      </p:graphicFrame>
      <p:pic>
        <p:nvPicPr>
          <p:cNvPr id="1029"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0" y="3276600"/>
            <a:ext cx="3581400" cy="3124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13" name="Object 12"/>
          <p:cNvGraphicFramePr>
            <a:graphicFrameLocks noChangeAspect="1"/>
          </p:cNvGraphicFramePr>
          <p:nvPr>
            <p:extLst>
              <p:ext uri="{D42A27DB-BD31-4B8C-83A1-F6EECF244321}">
                <p14:modId xmlns:p14="http://schemas.microsoft.com/office/powerpoint/2010/main" val="3815262440"/>
              </p:ext>
            </p:extLst>
          </p:nvPr>
        </p:nvGraphicFramePr>
        <p:xfrm>
          <a:off x="533400" y="4838700"/>
          <a:ext cx="4049713" cy="520404"/>
        </p:xfrm>
        <a:graphic>
          <a:graphicData uri="http://schemas.openxmlformats.org/presentationml/2006/ole">
            <mc:AlternateContent xmlns:mc="http://schemas.openxmlformats.org/markup-compatibility/2006">
              <mc:Choice xmlns:v="urn:schemas-microsoft-com:vml" Requires="v">
                <p:oleObj name="Equation" r:id="rId7" imgW="1345616" imgH="253890" progId="Equation.3">
                  <p:embed/>
                </p:oleObj>
              </mc:Choice>
              <mc:Fallback>
                <p:oleObj name="Equation" r:id="rId7" imgW="1345616" imgH="253890" progId="Equation.3">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3400" y="4838700"/>
                        <a:ext cx="4049713" cy="520404"/>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605928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52400" y="1447800"/>
            <a:ext cx="9296400" cy="5029200"/>
          </a:xfrm>
        </p:spPr>
        <p:txBody>
          <a:bodyPr>
            <a:normAutofit lnSpcReduction="10000"/>
          </a:bodyPr>
          <a:lstStyle/>
          <a:p>
            <a:r>
              <a:rPr lang="en-US" altLang="en-US" b="1" dirty="0"/>
              <a:t>This consumption function exhibits three properties that Keynes conjectured</a:t>
            </a:r>
            <a:r>
              <a:rPr lang="en-US" altLang="en-US" dirty="0"/>
              <a:t> </a:t>
            </a:r>
          </a:p>
          <a:p>
            <a:pPr marL="0" indent="0">
              <a:buNone/>
            </a:pPr>
            <a:r>
              <a:rPr lang="en-US" altLang="en-US" dirty="0"/>
              <a:t>+ First, the marginal propensity to  consume </a:t>
            </a:r>
            <a:r>
              <a:rPr lang="en-US" altLang="en-US" i="1" dirty="0"/>
              <a:t>c</a:t>
            </a:r>
            <a:r>
              <a:rPr lang="en-US" altLang="en-US" dirty="0"/>
              <a:t> is between zero and one. </a:t>
            </a:r>
          </a:p>
          <a:p>
            <a:pPr marL="0" indent="0">
              <a:buNone/>
            </a:pPr>
            <a:r>
              <a:rPr lang="en-US" altLang="en-US" dirty="0"/>
              <a:t>+ Second, the average propensity to consume falls as income rises</a:t>
            </a:r>
          </a:p>
          <a:p>
            <a:pPr marL="0" indent="0">
              <a:buNone/>
            </a:pPr>
            <a:endParaRPr lang="en-US" altLang="en-US" dirty="0"/>
          </a:p>
          <a:p>
            <a:pPr marL="0" indent="0">
              <a:buNone/>
            </a:pPr>
            <a:endParaRPr lang="en-US" altLang="en-US" dirty="0"/>
          </a:p>
          <a:p>
            <a:pPr marL="0" indent="0">
              <a:buNone/>
            </a:pPr>
            <a:endParaRPr lang="en-US" altLang="en-US" dirty="0"/>
          </a:p>
          <a:p>
            <a:pPr marL="0" indent="0">
              <a:buNone/>
            </a:pPr>
            <a:endParaRPr lang="en-US" altLang="en-US" dirty="0"/>
          </a:p>
          <a:p>
            <a:pPr marL="0" indent="0">
              <a:buNone/>
            </a:pPr>
            <a:endParaRPr lang="en-US" altLang="en-US" dirty="0"/>
          </a:p>
          <a:p>
            <a:pPr marL="0" indent="0">
              <a:buNone/>
            </a:pPr>
            <a:endParaRPr lang="en-US" altLang="en-US" dirty="0"/>
          </a:p>
          <a:p>
            <a:pPr marL="0" indent="0">
              <a:buNone/>
            </a:pPr>
            <a:r>
              <a:rPr lang="en-US" altLang="en-US" dirty="0"/>
              <a:t>+ Third, consumption is determined by current income </a:t>
            </a:r>
            <a:r>
              <a:rPr lang="en-US" altLang="en-US" i="1" dirty="0"/>
              <a:t>Y.</a:t>
            </a:r>
          </a:p>
          <a:p>
            <a:endParaRPr lang="en-US" dirty="0"/>
          </a:p>
        </p:txBody>
      </p:sp>
      <p:sp>
        <p:nvSpPr>
          <p:cNvPr id="5" name="Title 1"/>
          <p:cNvSpPr>
            <a:spLocks noGrp="1"/>
          </p:cNvSpPr>
          <p:nvPr>
            <p:ph type="title"/>
          </p:nvPr>
        </p:nvSpPr>
        <p:spPr/>
        <p:txBody>
          <a:bodyPr>
            <a:normAutofit fontScale="90000"/>
          </a:bodyPr>
          <a:lstStyle/>
          <a:p>
            <a:r>
              <a:rPr lang="en-US" dirty="0"/>
              <a:t>I John Maynard Keynes and the consumption function</a:t>
            </a:r>
          </a:p>
        </p:txBody>
      </p:sp>
      <p:pic>
        <p:nvPicPr>
          <p:cNvPr id="6" name="Picture 5"/>
          <p:cNvPicPr/>
          <p:nvPr/>
        </p:nvPicPr>
        <p:blipFill>
          <a:blip r:embed="rId2" cstate="print"/>
          <a:srcRect t="10526" r="29374" b="21362"/>
          <a:stretch>
            <a:fillRect/>
          </a:stretch>
        </p:blipFill>
        <p:spPr bwMode="auto">
          <a:xfrm>
            <a:off x="1447800" y="3352800"/>
            <a:ext cx="5791200" cy="2431326"/>
          </a:xfrm>
          <a:prstGeom prst="rect">
            <a:avLst/>
          </a:prstGeom>
          <a:noFill/>
          <a:ln w="9525">
            <a:noFill/>
            <a:miter lim="800000"/>
            <a:headEnd/>
            <a:tailEnd/>
          </a:ln>
        </p:spPr>
      </p:pic>
    </p:spTree>
    <p:extLst>
      <p:ext uri="{BB962C8B-B14F-4D97-AF65-F5344CB8AC3E}">
        <p14:creationId xmlns:p14="http://schemas.microsoft.com/office/powerpoint/2010/main" val="30472910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1219200"/>
            <a:ext cx="8458200" cy="5791200"/>
          </a:xfrm>
        </p:spPr>
        <p:txBody>
          <a:bodyPr>
            <a:normAutofit fontScale="92500" lnSpcReduction="20000"/>
          </a:bodyPr>
          <a:lstStyle/>
          <a:p>
            <a:r>
              <a:rPr lang="en-US" altLang="en-US" sz="2700" b="1" dirty="0"/>
              <a:t>Simon Kuznets and secular stagnation</a:t>
            </a:r>
          </a:p>
          <a:p>
            <a:pPr marL="0" indent="0">
              <a:buNone/>
            </a:pPr>
            <a:r>
              <a:rPr lang="en-US" altLang="en-US" sz="2700" dirty="0"/>
              <a:t>During World War II, on the basis of Keynes’s consumption function, economists predicted that the economy would experience what they called </a:t>
            </a:r>
            <a:r>
              <a:rPr lang="en-US" altLang="en-US" sz="2700" i="1" dirty="0"/>
              <a:t>secular stagnation</a:t>
            </a:r>
            <a:r>
              <a:rPr lang="en-US" altLang="en-US" sz="2700" i="1" dirty="0">
                <a:latin typeface=""/>
              </a:rPr>
              <a:t>—</a:t>
            </a:r>
            <a:r>
              <a:rPr lang="en-US" altLang="en-US" sz="2700" dirty="0"/>
              <a:t>a long depression of infinite duration caused by insufficient investment compared with massive saving when income increases</a:t>
            </a:r>
            <a:r>
              <a:rPr lang="en-US" altLang="en-US" sz="2700" dirty="0">
                <a:latin typeface=""/>
              </a:rPr>
              <a:t>— </a:t>
            </a:r>
            <a:r>
              <a:rPr lang="en-US" altLang="en-US" sz="2700" dirty="0"/>
              <a:t>unless the government used fiscal policy to stimulate aggregate demand.  It turned out that the end of the war did not throw the United States into another depression, but it did suggest that Keynes’s conjecture that the average  propensity to consume would fall as income rose appeared not to hold.</a:t>
            </a:r>
          </a:p>
          <a:p>
            <a:endParaRPr lang="en-US" altLang="en-US" sz="2700" dirty="0"/>
          </a:p>
          <a:p>
            <a:pPr marL="0" indent="0">
              <a:buNone/>
            </a:pPr>
            <a:r>
              <a:rPr lang="en-US" altLang="en-US" sz="2700" dirty="0"/>
              <a:t>Simon Kuznets constructed new aggregate data on consumption and  investment dating back to 1869. His  work would later earn him a  Nobel Prize. Kuznets discovered that the ratio of consumption to income was stable over time, despite large increases in income; again, Keynes’s conjecture was called into question.</a:t>
            </a:r>
          </a:p>
          <a:p>
            <a:pPr marL="0" indent="0">
              <a:buNone/>
            </a:pPr>
            <a:r>
              <a:rPr lang="en-US" altLang="en-US" sz="2700" dirty="0"/>
              <a:t>This brings us to the puzzle…</a:t>
            </a:r>
          </a:p>
          <a:p>
            <a:endParaRPr lang="en-US" dirty="0"/>
          </a:p>
        </p:txBody>
      </p:sp>
      <p:sp>
        <p:nvSpPr>
          <p:cNvPr id="5" name="Title 1"/>
          <p:cNvSpPr>
            <a:spLocks noGrp="1"/>
          </p:cNvSpPr>
          <p:nvPr>
            <p:ph type="title"/>
          </p:nvPr>
        </p:nvSpPr>
        <p:spPr>
          <a:xfrm>
            <a:off x="914400" y="205363"/>
            <a:ext cx="7772400" cy="1020762"/>
          </a:xfrm>
        </p:spPr>
        <p:txBody>
          <a:bodyPr>
            <a:normAutofit fontScale="90000"/>
          </a:bodyPr>
          <a:lstStyle/>
          <a:p>
            <a:r>
              <a:rPr lang="en-US" dirty="0"/>
              <a:t>I John Maynard Keynes and the consumption function</a:t>
            </a:r>
          </a:p>
        </p:txBody>
      </p:sp>
    </p:spTree>
    <p:extLst>
      <p:ext uri="{BB962C8B-B14F-4D97-AF65-F5344CB8AC3E}">
        <p14:creationId xmlns:p14="http://schemas.microsoft.com/office/powerpoint/2010/main" val="346459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lstStyle/>
          <a:p>
            <a:r>
              <a:rPr lang="en-US" dirty="0"/>
              <a:t>Data of household consumption in short-run supports Keynes’s idea about decreasing APC</a:t>
            </a:r>
          </a:p>
          <a:p>
            <a:r>
              <a:rPr lang="en-US" dirty="0"/>
              <a:t>Data of household  consumption in long – run supports Kuznets finding about constant APC</a:t>
            </a:r>
          </a:p>
        </p:txBody>
      </p:sp>
      <p:sp>
        <p:nvSpPr>
          <p:cNvPr id="4" name="Text Box 4"/>
          <p:cNvSpPr txBox="1">
            <a:spLocks noChangeArrowheads="1"/>
          </p:cNvSpPr>
          <p:nvPr/>
        </p:nvSpPr>
        <p:spPr bwMode="auto">
          <a:xfrm>
            <a:off x="5195887" y="3191741"/>
            <a:ext cx="38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C</a:t>
            </a:r>
          </a:p>
        </p:txBody>
      </p:sp>
      <p:sp>
        <p:nvSpPr>
          <p:cNvPr id="5" name="Line 6"/>
          <p:cNvSpPr>
            <a:spLocks noChangeShapeType="1"/>
          </p:cNvSpPr>
          <p:nvPr/>
        </p:nvSpPr>
        <p:spPr bwMode="auto">
          <a:xfrm>
            <a:off x="5583237" y="5741266"/>
            <a:ext cx="27432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p>
        </p:txBody>
      </p:sp>
      <p:sp>
        <p:nvSpPr>
          <p:cNvPr id="6" name="Text Box 7"/>
          <p:cNvSpPr txBox="1">
            <a:spLocks noChangeArrowheads="1"/>
          </p:cNvSpPr>
          <p:nvPr/>
        </p:nvSpPr>
        <p:spPr bwMode="auto">
          <a:xfrm>
            <a:off x="8081962" y="5665066"/>
            <a:ext cx="404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Y</a:t>
            </a:r>
          </a:p>
        </p:txBody>
      </p:sp>
      <p:sp>
        <p:nvSpPr>
          <p:cNvPr id="7" name="Line 8"/>
          <p:cNvSpPr>
            <a:spLocks noChangeShapeType="1"/>
          </p:cNvSpPr>
          <p:nvPr/>
        </p:nvSpPr>
        <p:spPr bwMode="auto">
          <a:xfrm flipV="1">
            <a:off x="5583237" y="4674466"/>
            <a:ext cx="2813050" cy="423863"/>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8" name="Line 23"/>
          <p:cNvSpPr>
            <a:spLocks noChangeShapeType="1"/>
          </p:cNvSpPr>
          <p:nvPr/>
        </p:nvSpPr>
        <p:spPr bwMode="auto">
          <a:xfrm flipV="1">
            <a:off x="5576887" y="3912466"/>
            <a:ext cx="2743200" cy="182880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9" name="Text Box 26"/>
          <p:cNvSpPr txBox="1">
            <a:spLocks noChangeArrowheads="1"/>
          </p:cNvSpPr>
          <p:nvPr/>
        </p:nvSpPr>
        <p:spPr bwMode="auto">
          <a:xfrm>
            <a:off x="7432836" y="4660611"/>
            <a:ext cx="1833563"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dirty="0">
                <a:solidFill>
                  <a:srgbClr val="FF3300"/>
                </a:solidFill>
              </a:rPr>
              <a:t>Short-run </a:t>
            </a:r>
          </a:p>
          <a:p>
            <a:pPr algn="ctr"/>
            <a:r>
              <a:rPr lang="en-US" altLang="en-US" dirty="0">
                <a:solidFill>
                  <a:srgbClr val="FF3300"/>
                </a:solidFill>
              </a:rPr>
              <a:t>consumption </a:t>
            </a:r>
          </a:p>
          <a:p>
            <a:pPr algn="ctr"/>
            <a:r>
              <a:rPr lang="en-US" altLang="en-US" dirty="0">
                <a:solidFill>
                  <a:srgbClr val="FF3300"/>
                </a:solidFill>
              </a:rPr>
              <a:t>function </a:t>
            </a:r>
          </a:p>
          <a:p>
            <a:pPr algn="ctr"/>
            <a:r>
              <a:rPr lang="en-US" altLang="en-US" dirty="0">
                <a:solidFill>
                  <a:srgbClr val="FF3300"/>
                </a:solidFill>
              </a:rPr>
              <a:t>(falling </a:t>
            </a:r>
            <a:r>
              <a:rPr lang="en-US" altLang="en-US" i="1" dirty="0">
                <a:solidFill>
                  <a:srgbClr val="FF3300"/>
                </a:solidFill>
              </a:rPr>
              <a:t>APC</a:t>
            </a:r>
            <a:r>
              <a:rPr lang="en-US" altLang="en-US" dirty="0">
                <a:solidFill>
                  <a:srgbClr val="FF3300"/>
                </a:solidFill>
              </a:rPr>
              <a:t>)</a:t>
            </a:r>
          </a:p>
        </p:txBody>
      </p:sp>
      <p:sp>
        <p:nvSpPr>
          <p:cNvPr id="10" name="Rectangle 27"/>
          <p:cNvSpPr>
            <a:spLocks noChangeArrowheads="1"/>
          </p:cNvSpPr>
          <p:nvPr/>
        </p:nvSpPr>
        <p:spPr bwMode="auto">
          <a:xfrm>
            <a:off x="6373812" y="3318236"/>
            <a:ext cx="23622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dirty="0">
                <a:solidFill>
                  <a:schemeClr val="accent2"/>
                </a:solidFill>
              </a:rPr>
              <a:t>Long-run consumption function (constant </a:t>
            </a:r>
            <a:r>
              <a:rPr lang="en-US" altLang="en-US" i="1" dirty="0">
                <a:solidFill>
                  <a:schemeClr val="accent2"/>
                </a:solidFill>
              </a:rPr>
              <a:t>APC</a:t>
            </a:r>
            <a:r>
              <a:rPr lang="en-US" altLang="en-US" dirty="0">
                <a:solidFill>
                  <a:schemeClr val="accent2"/>
                </a:solidFill>
              </a:rPr>
              <a:t>)</a:t>
            </a:r>
          </a:p>
        </p:txBody>
      </p:sp>
      <p:sp>
        <p:nvSpPr>
          <p:cNvPr id="11" name="Line 5"/>
          <p:cNvSpPr>
            <a:spLocks noChangeShapeType="1"/>
          </p:cNvSpPr>
          <p:nvPr/>
        </p:nvSpPr>
        <p:spPr bwMode="auto">
          <a:xfrm>
            <a:off x="5583237" y="3379066"/>
            <a:ext cx="0" cy="23622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p>
        </p:txBody>
      </p:sp>
      <p:sp>
        <p:nvSpPr>
          <p:cNvPr id="12" name="Title 1"/>
          <p:cNvSpPr>
            <a:spLocks noGrp="1"/>
          </p:cNvSpPr>
          <p:nvPr>
            <p:ph type="title"/>
          </p:nvPr>
        </p:nvSpPr>
        <p:spPr/>
        <p:txBody>
          <a:bodyPr>
            <a:normAutofit fontScale="90000"/>
          </a:bodyPr>
          <a:lstStyle/>
          <a:p>
            <a:r>
              <a:rPr lang="en-US" dirty="0"/>
              <a:t>I John Maynard Keynes and the consumption function</a:t>
            </a:r>
          </a:p>
        </p:txBody>
      </p:sp>
      <p:pic>
        <p:nvPicPr>
          <p:cNvPr id="13" name="Picture 12"/>
          <p:cNvPicPr/>
          <p:nvPr/>
        </p:nvPicPr>
        <p:blipFill>
          <a:blip r:embed="rId2" cstate="print"/>
          <a:srcRect t="11441"/>
          <a:stretch>
            <a:fillRect/>
          </a:stretch>
        </p:blipFill>
        <p:spPr bwMode="auto">
          <a:xfrm>
            <a:off x="304801" y="3420341"/>
            <a:ext cx="4648200" cy="2980459"/>
          </a:xfrm>
          <a:prstGeom prst="rect">
            <a:avLst/>
          </a:prstGeom>
          <a:noFill/>
          <a:ln w="9525">
            <a:noFill/>
            <a:miter lim="800000"/>
            <a:headEnd/>
            <a:tailEnd/>
          </a:ln>
        </p:spPr>
      </p:pic>
    </p:spTree>
    <p:extLst>
      <p:ext uri="{BB962C8B-B14F-4D97-AF65-F5344CB8AC3E}">
        <p14:creationId xmlns:p14="http://schemas.microsoft.com/office/powerpoint/2010/main" val="3118060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0" y="1371600"/>
            <a:ext cx="7772400" cy="4572000"/>
          </a:xfrm>
        </p:spPr>
        <p:txBody>
          <a:bodyPr/>
          <a:lstStyle/>
          <a:p>
            <a:r>
              <a:rPr lang="en-US" altLang="en-US" dirty="0"/>
              <a:t>The economist Irving Fisher developed the model with which economists analyze how rational, forward-looking consumers make </a:t>
            </a:r>
            <a:r>
              <a:rPr lang="en-US" altLang="en-US" dirty="0" err="1"/>
              <a:t>intertemporal</a:t>
            </a:r>
            <a:r>
              <a:rPr lang="en-US" altLang="en-US" dirty="0"/>
              <a:t> choices</a:t>
            </a:r>
            <a:r>
              <a:rPr lang="en-US" altLang="en-US" dirty="0">
                <a:latin typeface=""/>
              </a:rPr>
              <a:t>—</a:t>
            </a:r>
            <a:r>
              <a:rPr lang="en-US" altLang="en-US" dirty="0"/>
              <a:t>that is, choices involving different periods of time. </a:t>
            </a:r>
          </a:p>
          <a:p>
            <a:pPr marL="0" indent="0">
              <a:buNone/>
            </a:pPr>
            <a:r>
              <a:rPr lang="en-US" altLang="en-US" dirty="0"/>
              <a:t> </a:t>
            </a:r>
          </a:p>
          <a:p>
            <a:pPr marL="0" indent="0">
              <a:buNone/>
            </a:pPr>
            <a:endParaRPr lang="en-US" altLang="en-US" dirty="0"/>
          </a:p>
          <a:p>
            <a:r>
              <a:rPr lang="en-US" altLang="en-US" dirty="0"/>
              <a:t>The model illuminates the </a:t>
            </a:r>
            <a:r>
              <a:rPr lang="en-US" altLang="en-US" dirty="0">
                <a:solidFill>
                  <a:schemeClr val="accent2"/>
                </a:solidFill>
              </a:rPr>
              <a:t>constraints </a:t>
            </a:r>
            <a:r>
              <a:rPr lang="en-US" altLang="en-US" dirty="0"/>
              <a:t>consumers face, the </a:t>
            </a:r>
            <a:r>
              <a:rPr lang="en-US" altLang="en-US" dirty="0">
                <a:solidFill>
                  <a:schemeClr val="accent2"/>
                </a:solidFill>
              </a:rPr>
              <a:t>preferences</a:t>
            </a:r>
            <a:r>
              <a:rPr lang="en-US" altLang="en-US" dirty="0"/>
              <a:t> they have, and how these constraints and preferences together determine their </a:t>
            </a:r>
            <a:r>
              <a:rPr lang="en-US" altLang="en-US" dirty="0">
                <a:solidFill>
                  <a:schemeClr val="accent2"/>
                </a:solidFill>
              </a:rPr>
              <a:t>choices</a:t>
            </a:r>
            <a:r>
              <a:rPr lang="en-US" altLang="en-US" dirty="0"/>
              <a:t> about consumption and saving</a:t>
            </a:r>
          </a:p>
          <a:p>
            <a:pPr marL="0" indent="0">
              <a:buNone/>
            </a:pPr>
            <a:endParaRPr lang="en-US" dirty="0"/>
          </a:p>
        </p:txBody>
      </p:sp>
      <p:sp>
        <p:nvSpPr>
          <p:cNvPr id="4" name="Title 1"/>
          <p:cNvSpPr>
            <a:spLocks noGrp="1"/>
          </p:cNvSpPr>
          <p:nvPr>
            <p:ph type="title"/>
          </p:nvPr>
        </p:nvSpPr>
        <p:spPr>
          <a:xfrm>
            <a:off x="533400" y="304800"/>
            <a:ext cx="8001000" cy="808038"/>
          </a:xfrm>
        </p:spPr>
        <p:txBody>
          <a:bodyPr>
            <a:normAutofit fontScale="90000"/>
          </a:bodyPr>
          <a:lstStyle/>
          <a:p>
            <a:r>
              <a:rPr lang="en-US" dirty="0"/>
              <a:t>II Irving Fisher and Inter-temporal choice</a:t>
            </a:r>
          </a:p>
        </p:txBody>
      </p:sp>
      <p:graphicFrame>
        <p:nvGraphicFramePr>
          <p:cNvPr id="5" name="Object 4"/>
          <p:cNvGraphicFramePr>
            <a:graphicFrameLocks/>
          </p:cNvGraphicFramePr>
          <p:nvPr>
            <p:extLst>
              <p:ext uri="{D42A27DB-BD31-4B8C-83A1-F6EECF244321}">
                <p14:modId xmlns:p14="http://schemas.microsoft.com/office/powerpoint/2010/main" val="3501026179"/>
              </p:ext>
            </p:extLst>
          </p:nvPr>
        </p:nvGraphicFramePr>
        <p:xfrm>
          <a:off x="6556086" y="1524000"/>
          <a:ext cx="2622550" cy="3346450"/>
        </p:xfrm>
        <a:graphic>
          <a:graphicData uri="http://schemas.openxmlformats.org/presentationml/2006/ole">
            <mc:AlternateContent xmlns:mc="http://schemas.openxmlformats.org/markup-compatibility/2006">
              <mc:Choice xmlns:v="urn:schemas-microsoft-com:vml" Requires="v">
                <p:oleObj name="GALLERY Clipart" r:id="rId2" imgW="2632558" imgH="3356762" progId="GALLERYClipart">
                  <p:embed/>
                </p:oleObj>
              </mc:Choice>
              <mc:Fallback>
                <p:oleObj name="GALLERY Clipart" r:id="rId2" imgW="2632558" imgH="3356762" progId="GALLERYClipart">
                  <p:embed/>
                  <p:pic>
                    <p:nvPicPr>
                      <p:cNvPr id="0" name="Object 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6086" y="1524000"/>
                        <a:ext cx="2622550" cy="334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4455220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rmAutofit fontScale="90000"/>
          </a:bodyPr>
          <a:lstStyle/>
          <a:p>
            <a:r>
              <a:rPr lang="en-US" dirty="0"/>
              <a:t>II Irving Fisher and Inter-temporal choice</a:t>
            </a:r>
          </a:p>
        </p:txBody>
      </p:sp>
      <p:sp>
        <p:nvSpPr>
          <p:cNvPr id="3" name="Content Placeholder 2"/>
          <p:cNvSpPr>
            <a:spLocks noGrp="1"/>
          </p:cNvSpPr>
          <p:nvPr>
            <p:ph sz="quarter" idx="1"/>
          </p:nvPr>
        </p:nvSpPr>
        <p:spPr>
          <a:xfrm>
            <a:off x="381000" y="914400"/>
            <a:ext cx="8305800" cy="5562600"/>
          </a:xfrm>
        </p:spPr>
        <p:txBody>
          <a:bodyPr>
            <a:normAutofit fontScale="92500" lnSpcReduction="10000"/>
          </a:bodyPr>
          <a:lstStyle/>
          <a:p>
            <a:pPr marL="0" indent="0">
              <a:buNone/>
            </a:pPr>
            <a:r>
              <a:rPr lang="en-US" altLang="en-US" b="1" u="sng" dirty="0"/>
              <a:t>Building </a:t>
            </a:r>
            <a:r>
              <a:rPr lang="en-US" altLang="en-US" b="1" u="sng" dirty="0" err="1"/>
              <a:t>intertemporal</a:t>
            </a:r>
            <a:r>
              <a:rPr lang="en-US" altLang="en-US" b="1" u="sng" dirty="0"/>
              <a:t> budget constraint line</a:t>
            </a:r>
          </a:p>
          <a:p>
            <a:pPr marL="0" indent="0">
              <a:buNone/>
            </a:pPr>
            <a:r>
              <a:rPr lang="en-US" altLang="en-US" dirty="0"/>
              <a:t>- When consumers are deciding how much to consume today versus how much to consume in the future, they face an </a:t>
            </a:r>
            <a:r>
              <a:rPr lang="en-US" altLang="en-US" b="1" i="1" dirty="0" err="1"/>
              <a:t>intertemporal</a:t>
            </a:r>
            <a:r>
              <a:rPr lang="en-US" altLang="en-US" b="1" i="1" dirty="0"/>
              <a:t> budget constraint, </a:t>
            </a:r>
            <a:r>
              <a:rPr lang="en-US" altLang="en-US" dirty="0"/>
              <a:t>which measures the total resources available for consumption today and in the future</a:t>
            </a:r>
          </a:p>
          <a:p>
            <a:pPr marL="0" indent="0">
              <a:buNone/>
            </a:pPr>
            <a:r>
              <a:rPr lang="en-US" altLang="en-US" dirty="0"/>
              <a:t>- </a:t>
            </a:r>
            <a:r>
              <a:rPr lang="en-US" altLang="en-US" b="1" i="1" dirty="0"/>
              <a:t>Assume that </a:t>
            </a:r>
            <a:r>
              <a:rPr lang="en-US" altLang="en-US" dirty="0"/>
              <a:t>a person lives in two – period life (e.g. young and old). He will consume all income in the second period</a:t>
            </a:r>
          </a:p>
          <a:p>
            <a:pPr marL="0" indent="0">
              <a:buNone/>
            </a:pPr>
            <a:r>
              <a:rPr lang="en-US" altLang="en-US" dirty="0"/>
              <a:t>+ Income and consumption in the first period: </a:t>
            </a:r>
            <a:r>
              <a:rPr lang="en-US" sz="2800" dirty="0"/>
              <a:t>Y</a:t>
            </a:r>
            <a:r>
              <a:rPr lang="en-US" sz="2800" baseline="-25000" dirty="0"/>
              <a:t>1</a:t>
            </a:r>
            <a:r>
              <a:rPr lang="en-US" sz="2800" dirty="0"/>
              <a:t>, C</a:t>
            </a:r>
            <a:r>
              <a:rPr lang="en-US" sz="2800" baseline="-25000" dirty="0"/>
              <a:t>1</a:t>
            </a:r>
          </a:p>
          <a:p>
            <a:pPr marL="0" indent="0">
              <a:buNone/>
            </a:pPr>
            <a:r>
              <a:rPr lang="en-US" altLang="en-US" dirty="0"/>
              <a:t>    Income and consumption in the second period: </a:t>
            </a:r>
            <a:r>
              <a:rPr lang="en-US" sz="2800" dirty="0"/>
              <a:t>Y</a:t>
            </a:r>
            <a:r>
              <a:rPr lang="en-US" sz="2800" baseline="-25000" dirty="0"/>
              <a:t>2</a:t>
            </a:r>
            <a:r>
              <a:rPr lang="en-US" sz="2800" dirty="0"/>
              <a:t>,C</a:t>
            </a:r>
            <a:r>
              <a:rPr lang="en-US" sz="2800" baseline="-25000" dirty="0"/>
              <a:t>2</a:t>
            </a:r>
          </a:p>
          <a:p>
            <a:pPr marL="0" indent="0">
              <a:buNone/>
            </a:pPr>
            <a:r>
              <a:rPr lang="en-US" sz="2800" dirty="0"/>
              <a:t>+ Saving in the first period S</a:t>
            </a:r>
            <a:r>
              <a:rPr lang="en-US" sz="2800" baseline="-25000" dirty="0"/>
              <a:t>1</a:t>
            </a:r>
            <a:r>
              <a:rPr lang="en-US" sz="2800" dirty="0"/>
              <a:t> = Y</a:t>
            </a:r>
            <a:r>
              <a:rPr lang="en-US" sz="2800" baseline="-25000" dirty="0"/>
              <a:t>1</a:t>
            </a:r>
            <a:r>
              <a:rPr lang="en-US" sz="2800" dirty="0"/>
              <a:t> – C</a:t>
            </a:r>
            <a:r>
              <a:rPr lang="en-US" sz="2800" baseline="-25000" dirty="0"/>
              <a:t>1 </a:t>
            </a:r>
            <a:r>
              <a:rPr lang="en-US" sz="2800" dirty="0"/>
              <a:t>Because all income will be consumed in the second period so </a:t>
            </a:r>
          </a:p>
          <a:p>
            <a:pPr marL="0" indent="0">
              <a:buNone/>
            </a:pPr>
            <a:r>
              <a:rPr lang="en-US" sz="2800" dirty="0"/>
              <a:t>C</a:t>
            </a:r>
            <a:r>
              <a:rPr lang="en-US" sz="2800" baseline="-25000" dirty="0"/>
              <a:t>2</a:t>
            </a:r>
            <a:r>
              <a:rPr lang="en-US" sz="2800" dirty="0"/>
              <a:t> = S</a:t>
            </a:r>
            <a:r>
              <a:rPr lang="en-US" sz="2800" baseline="-25000" dirty="0"/>
              <a:t>1</a:t>
            </a:r>
            <a:r>
              <a:rPr lang="en-US" sz="2800" dirty="0"/>
              <a:t>(1+r) + Y</a:t>
            </a:r>
            <a:r>
              <a:rPr lang="en-US" sz="2800" baseline="-25000" dirty="0"/>
              <a:t>2</a:t>
            </a:r>
            <a:r>
              <a:rPr lang="en-US" sz="2800" dirty="0"/>
              <a:t> = (Y</a:t>
            </a:r>
            <a:r>
              <a:rPr lang="en-US" sz="2800" baseline="-25000" dirty="0"/>
              <a:t>1</a:t>
            </a:r>
            <a:r>
              <a:rPr lang="en-US" sz="2800" dirty="0"/>
              <a:t>-C</a:t>
            </a:r>
            <a:r>
              <a:rPr lang="en-US" sz="2800" baseline="-25000" dirty="0"/>
              <a:t>1</a:t>
            </a:r>
            <a:r>
              <a:rPr lang="en-US" sz="2800" dirty="0"/>
              <a:t>)(1+r)+Y</a:t>
            </a:r>
            <a:r>
              <a:rPr lang="en-US" sz="2800" baseline="-25000" dirty="0"/>
              <a:t>2</a:t>
            </a:r>
          </a:p>
          <a:p>
            <a:pPr marL="0" indent="0">
              <a:buNone/>
            </a:pPr>
            <a:endParaRPr lang="en-US" sz="2800" dirty="0"/>
          </a:p>
          <a:p>
            <a:pPr marL="0" indent="0">
              <a:buNone/>
            </a:pPr>
            <a:r>
              <a:rPr lang="en-US" sz="2800" dirty="0"/>
              <a:t>or </a:t>
            </a:r>
          </a:p>
          <a:p>
            <a:pPr marL="0" indent="0">
              <a:buNone/>
            </a:pPr>
            <a:endParaRPr lang="en-US" altLang="en-US" dirty="0"/>
          </a:p>
          <a:p>
            <a:pPr marL="0" indent="0">
              <a:buNone/>
            </a:pPr>
            <a:endParaRPr lang="en-US" altLang="en-US" dirty="0"/>
          </a:p>
          <a:p>
            <a:pPr marL="0" indent="0">
              <a:buNone/>
            </a:pPr>
            <a:endParaRPr lang="en-US" altLang="en-US" dirty="0"/>
          </a:p>
          <a:p>
            <a:endParaRPr lang="en-US" dirty="0"/>
          </a:p>
        </p:txBody>
      </p:sp>
      <p:graphicFrame>
        <p:nvGraphicFramePr>
          <p:cNvPr id="4" name="Object 3"/>
          <p:cNvGraphicFramePr>
            <a:graphicFrameLocks noChangeAspect="1"/>
          </p:cNvGraphicFramePr>
          <p:nvPr>
            <p:extLst>
              <p:ext uri="{D42A27DB-BD31-4B8C-83A1-F6EECF244321}">
                <p14:modId xmlns:p14="http://schemas.microsoft.com/office/powerpoint/2010/main" val="2703930269"/>
              </p:ext>
            </p:extLst>
          </p:nvPr>
        </p:nvGraphicFramePr>
        <p:xfrm>
          <a:off x="1295400" y="5715000"/>
          <a:ext cx="2879725" cy="796925"/>
        </p:xfrm>
        <a:graphic>
          <a:graphicData uri="http://schemas.openxmlformats.org/presentationml/2006/ole">
            <mc:AlternateContent xmlns:mc="http://schemas.openxmlformats.org/markup-compatibility/2006">
              <mc:Choice xmlns:v="urn:schemas-microsoft-com:vml" Requires="v">
                <p:oleObj name="Equation" r:id="rId2" imgW="1345616" imgH="406224" progId="Equation.3">
                  <p:embed/>
                </p:oleObj>
              </mc:Choice>
              <mc:Fallback>
                <p:oleObj name="Equation" r:id="rId2" imgW="1345616" imgH="406224"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5715000"/>
                        <a:ext cx="2879725" cy="79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9110473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533400" y="1143000"/>
            <a:ext cx="7772400" cy="4572000"/>
          </a:xfrm>
        </p:spPr>
        <p:txBody>
          <a:bodyPr/>
          <a:lstStyle/>
          <a:p>
            <a:r>
              <a:rPr lang="en-US" altLang="en-US" b="1" u="sng" dirty="0"/>
              <a:t>Building </a:t>
            </a:r>
            <a:r>
              <a:rPr lang="en-US" altLang="en-US" b="1" u="sng" dirty="0" err="1"/>
              <a:t>intertemporal</a:t>
            </a:r>
            <a:r>
              <a:rPr lang="en-US" altLang="en-US" b="1" u="sng" dirty="0"/>
              <a:t> budget constraint line</a:t>
            </a:r>
          </a:p>
          <a:p>
            <a:pPr>
              <a:buFontTx/>
              <a:buChar char="-"/>
            </a:pPr>
            <a:r>
              <a:rPr lang="en-US" altLang="en-US" dirty="0"/>
              <a:t>Downward slope with </a:t>
            </a:r>
          </a:p>
          <a:p>
            <a:pPr marL="0" indent="0">
              <a:buNone/>
            </a:pPr>
            <a:r>
              <a:rPr lang="en-US" altLang="en-US" dirty="0"/>
              <a:t>coefficient of 1 + r</a:t>
            </a:r>
          </a:p>
          <a:p>
            <a:pPr>
              <a:buFontTx/>
              <a:buChar char="-"/>
            </a:pPr>
            <a:r>
              <a:rPr lang="en-US" altLang="en-US" dirty="0"/>
              <a:t>Intersection with vertical</a:t>
            </a:r>
          </a:p>
          <a:p>
            <a:pPr marL="0" indent="0">
              <a:buNone/>
            </a:pPr>
            <a:r>
              <a:rPr lang="en-US" altLang="en-US" dirty="0"/>
              <a:t>axis and horizontal axis</a:t>
            </a:r>
          </a:p>
          <a:p>
            <a:pPr>
              <a:buFontTx/>
              <a:buChar char="-"/>
            </a:pPr>
            <a:r>
              <a:rPr lang="en-US" altLang="en-US" dirty="0"/>
              <a:t>A point exhibits saving of </a:t>
            </a:r>
          </a:p>
          <a:p>
            <a:pPr marL="0" indent="0">
              <a:buNone/>
            </a:pPr>
            <a:r>
              <a:rPr lang="en-US" altLang="en-US" dirty="0"/>
              <a:t>the first period is 0; above is </a:t>
            </a:r>
          </a:p>
          <a:p>
            <a:pPr marL="0" indent="0">
              <a:buNone/>
            </a:pPr>
            <a:r>
              <a:rPr lang="en-US" altLang="en-US" dirty="0"/>
              <a:t>saving – below is borrowing</a:t>
            </a:r>
          </a:p>
          <a:p>
            <a:pPr marL="0" indent="0">
              <a:buNone/>
            </a:pPr>
            <a:endParaRPr lang="en-US" dirty="0"/>
          </a:p>
        </p:txBody>
      </p:sp>
      <p:sp>
        <p:nvSpPr>
          <p:cNvPr id="4" name="Title 1"/>
          <p:cNvSpPr>
            <a:spLocks noGrp="1"/>
          </p:cNvSpPr>
          <p:nvPr>
            <p:ph type="title"/>
          </p:nvPr>
        </p:nvSpPr>
        <p:spPr>
          <a:xfrm>
            <a:off x="685800" y="228600"/>
            <a:ext cx="8077200" cy="808038"/>
          </a:xfrm>
        </p:spPr>
        <p:txBody>
          <a:bodyPr>
            <a:normAutofit fontScale="90000"/>
          </a:bodyPr>
          <a:lstStyle/>
          <a:p>
            <a:r>
              <a:rPr lang="en-US" dirty="0"/>
              <a:t>II Irving Fisher and Inter-temporal choice</a:t>
            </a:r>
          </a:p>
        </p:txBody>
      </p:sp>
      <p:pic>
        <p:nvPicPr>
          <p:cNvPr id="5" name="Picture 4"/>
          <p:cNvPicPr/>
          <p:nvPr/>
        </p:nvPicPr>
        <p:blipFill>
          <a:blip r:embed="rId2" cstate="print"/>
          <a:srcRect/>
          <a:stretch>
            <a:fillRect/>
          </a:stretch>
        </p:blipFill>
        <p:spPr bwMode="auto">
          <a:xfrm>
            <a:off x="4038600" y="1905000"/>
            <a:ext cx="4638776" cy="4032448"/>
          </a:xfrm>
          <a:prstGeom prst="rect">
            <a:avLst/>
          </a:prstGeom>
          <a:noFill/>
          <a:ln w="9525">
            <a:noFill/>
            <a:miter lim="800000"/>
            <a:headEnd/>
            <a:tailEnd/>
          </a:ln>
        </p:spPr>
      </p:pic>
    </p:spTree>
    <p:extLst>
      <p:ext uri="{BB962C8B-B14F-4D97-AF65-F5344CB8AC3E}">
        <p14:creationId xmlns:p14="http://schemas.microsoft.com/office/powerpoint/2010/main" val="37410416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838200" y="1066800"/>
            <a:ext cx="7772400" cy="4953000"/>
          </a:xfrm>
        </p:spPr>
        <p:txBody>
          <a:bodyPr>
            <a:normAutofit lnSpcReduction="10000"/>
          </a:bodyPr>
          <a:lstStyle/>
          <a:p>
            <a:pPr marL="0" indent="0">
              <a:buNone/>
            </a:pPr>
            <a:r>
              <a:rPr lang="en-US" b="1" u="sng" dirty="0"/>
              <a:t>Building consumer conference indifference curve </a:t>
            </a:r>
          </a:p>
          <a:p>
            <a:pPr marL="0" indent="0">
              <a:buNone/>
            </a:pPr>
            <a:r>
              <a:rPr lang="en-US" altLang="en-US" dirty="0"/>
              <a:t>The consumer’s preferences regarding consumption in the two periods can be represented by </a:t>
            </a:r>
            <a:r>
              <a:rPr lang="en-US" altLang="en-US" b="1" i="1" dirty="0"/>
              <a:t>indifference curves.  </a:t>
            </a:r>
            <a:r>
              <a:rPr lang="en-US" altLang="en-US" dirty="0"/>
              <a:t>An indifference curve shows the combination of first-period and second-period consumption that makes the consumer equally happy.  The slope at any point on the indifference curve shows how much second-period consumption the consumer requires in order to be compensated for a 1-unit reduction in first-period consumption. This slope is the </a:t>
            </a:r>
            <a:r>
              <a:rPr lang="en-US" altLang="en-US" b="1" i="1" dirty="0"/>
              <a:t>marginal rate of substitution </a:t>
            </a:r>
            <a:r>
              <a:rPr lang="en-US" altLang="en-US" dirty="0"/>
              <a:t>between first-period consumption and second-period consumption.  It tells us the rate at which the consumer is willing to substitute second-period consumption for first-period consumption.</a:t>
            </a:r>
          </a:p>
          <a:p>
            <a:pPr marL="0" indent="0">
              <a:buNone/>
            </a:pPr>
            <a:endParaRPr lang="en-US" dirty="0"/>
          </a:p>
        </p:txBody>
      </p:sp>
      <p:sp>
        <p:nvSpPr>
          <p:cNvPr id="4" name="Title 1"/>
          <p:cNvSpPr>
            <a:spLocks noGrp="1"/>
          </p:cNvSpPr>
          <p:nvPr>
            <p:ph type="title"/>
          </p:nvPr>
        </p:nvSpPr>
        <p:spPr>
          <a:xfrm>
            <a:off x="762000" y="152400"/>
            <a:ext cx="8077200" cy="731838"/>
          </a:xfrm>
        </p:spPr>
        <p:txBody>
          <a:bodyPr>
            <a:normAutofit fontScale="90000"/>
          </a:bodyPr>
          <a:lstStyle/>
          <a:p>
            <a:r>
              <a:rPr lang="en-US" dirty="0"/>
              <a:t>II Irving Fisher and Inter-temporal choice</a:t>
            </a:r>
          </a:p>
        </p:txBody>
      </p:sp>
    </p:spTree>
    <p:extLst>
      <p:ext uri="{BB962C8B-B14F-4D97-AF65-F5344CB8AC3E}">
        <p14:creationId xmlns:p14="http://schemas.microsoft.com/office/powerpoint/2010/main" val="29967966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685800" y="914400"/>
            <a:ext cx="7772400" cy="4572000"/>
          </a:xfrm>
        </p:spPr>
        <p:txBody>
          <a:bodyPr/>
          <a:lstStyle/>
          <a:p>
            <a:pPr marL="0" indent="0">
              <a:buNone/>
            </a:pPr>
            <a:r>
              <a:rPr lang="en-US" b="1" u="sng" dirty="0"/>
              <a:t>Building consumer conference indifference curve</a:t>
            </a:r>
          </a:p>
          <a:p>
            <a:pPr>
              <a:buFontTx/>
              <a:buChar char="-"/>
            </a:pPr>
            <a:r>
              <a:rPr lang="en-US" dirty="0"/>
              <a:t>Downward sloping</a:t>
            </a:r>
          </a:p>
          <a:p>
            <a:pPr>
              <a:buFontTx/>
              <a:buChar char="-"/>
            </a:pPr>
            <a:r>
              <a:rPr lang="en-US" dirty="0"/>
              <a:t>No intersection between two </a:t>
            </a:r>
          </a:p>
          <a:p>
            <a:pPr marL="0" indent="0">
              <a:buNone/>
            </a:pPr>
            <a:r>
              <a:rPr lang="en-US" dirty="0"/>
              <a:t>different indifferent curves </a:t>
            </a:r>
          </a:p>
          <a:p>
            <a:pPr>
              <a:buFontTx/>
              <a:buChar char="-"/>
            </a:pPr>
            <a:r>
              <a:rPr lang="en-US" dirty="0"/>
              <a:t>Outside indifferent curves </a:t>
            </a:r>
          </a:p>
          <a:p>
            <a:pPr marL="0" indent="0">
              <a:buNone/>
            </a:pPr>
            <a:r>
              <a:rPr lang="en-US" dirty="0"/>
              <a:t>satisfies consumer more inside</a:t>
            </a:r>
          </a:p>
          <a:p>
            <a:pPr marL="0" indent="0">
              <a:buNone/>
            </a:pPr>
            <a:r>
              <a:rPr lang="en-US" dirty="0"/>
              <a:t>one</a:t>
            </a:r>
          </a:p>
          <a:p>
            <a:pPr marL="0" indent="0">
              <a:buNone/>
            </a:pPr>
            <a:endParaRPr lang="en-US" dirty="0"/>
          </a:p>
          <a:p>
            <a:pPr marL="0" indent="0">
              <a:buNone/>
            </a:pPr>
            <a:endParaRPr lang="en-US" dirty="0"/>
          </a:p>
        </p:txBody>
      </p:sp>
      <p:sp>
        <p:nvSpPr>
          <p:cNvPr id="4" name="Title 1"/>
          <p:cNvSpPr>
            <a:spLocks noGrp="1"/>
          </p:cNvSpPr>
          <p:nvPr>
            <p:ph type="title"/>
          </p:nvPr>
        </p:nvSpPr>
        <p:spPr>
          <a:xfrm>
            <a:off x="838200" y="228600"/>
            <a:ext cx="7924800" cy="655638"/>
          </a:xfrm>
        </p:spPr>
        <p:txBody>
          <a:bodyPr>
            <a:normAutofit fontScale="90000"/>
          </a:bodyPr>
          <a:lstStyle/>
          <a:p>
            <a:r>
              <a:rPr lang="en-US" dirty="0"/>
              <a:t>II Irving Fisher and Inter-temporal choice</a:t>
            </a:r>
          </a:p>
        </p:txBody>
      </p:sp>
      <p:pic>
        <p:nvPicPr>
          <p:cNvPr id="5" name="Picture 4"/>
          <p:cNvPicPr/>
          <p:nvPr/>
        </p:nvPicPr>
        <p:blipFill>
          <a:blip r:embed="rId2" cstate="print"/>
          <a:srcRect/>
          <a:stretch>
            <a:fillRect/>
          </a:stretch>
        </p:blipFill>
        <p:spPr bwMode="auto">
          <a:xfrm>
            <a:off x="4741749" y="1447800"/>
            <a:ext cx="4024808" cy="3691880"/>
          </a:xfrm>
          <a:prstGeom prst="rect">
            <a:avLst/>
          </a:prstGeom>
          <a:noFill/>
          <a:ln w="9525">
            <a:noFill/>
            <a:miter lim="800000"/>
            <a:headEnd/>
            <a:tailEnd/>
          </a:ln>
        </p:spPr>
      </p:pic>
    </p:spTree>
    <p:extLst>
      <p:ext uri="{BB962C8B-B14F-4D97-AF65-F5344CB8AC3E}">
        <p14:creationId xmlns:p14="http://schemas.microsoft.com/office/powerpoint/2010/main" val="36932680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792476" y="786292"/>
            <a:ext cx="7772400" cy="4572000"/>
          </a:xfrm>
        </p:spPr>
        <p:txBody>
          <a:bodyPr/>
          <a:lstStyle/>
          <a:p>
            <a:pPr marL="0" indent="0">
              <a:buNone/>
            </a:pPr>
            <a:r>
              <a:rPr lang="en-US" b="1" u="sng" dirty="0"/>
              <a:t>Consumption optimization</a:t>
            </a:r>
          </a:p>
        </p:txBody>
      </p:sp>
      <p:pic>
        <p:nvPicPr>
          <p:cNvPr id="4" name="Picture 3"/>
          <p:cNvPicPr/>
          <p:nvPr/>
        </p:nvPicPr>
        <p:blipFill>
          <a:blip r:embed="rId2" cstate="print"/>
          <a:srcRect/>
          <a:stretch>
            <a:fillRect/>
          </a:stretch>
        </p:blipFill>
        <p:spPr bwMode="auto">
          <a:xfrm>
            <a:off x="1870364" y="1447800"/>
            <a:ext cx="5616624" cy="3875856"/>
          </a:xfrm>
          <a:prstGeom prst="rect">
            <a:avLst/>
          </a:prstGeom>
          <a:noFill/>
          <a:ln w="9525">
            <a:noFill/>
            <a:miter lim="800000"/>
            <a:headEnd/>
            <a:tailEnd/>
          </a:ln>
        </p:spPr>
      </p:pic>
      <p:sp>
        <p:nvSpPr>
          <p:cNvPr id="5" name="TextBox 4"/>
          <p:cNvSpPr txBox="1"/>
          <p:nvPr/>
        </p:nvSpPr>
        <p:spPr>
          <a:xfrm>
            <a:off x="1219200" y="5486400"/>
            <a:ext cx="7162800" cy="1246495"/>
          </a:xfrm>
          <a:prstGeom prst="rect">
            <a:avLst/>
          </a:prstGeom>
          <a:noFill/>
          <a:ln>
            <a:solidFill>
              <a:schemeClr val="accent1"/>
            </a:solidFill>
          </a:ln>
        </p:spPr>
        <p:txBody>
          <a:bodyPr wrap="square" rtlCol="0">
            <a:spAutoFit/>
          </a:bodyPr>
          <a:lstStyle/>
          <a:p>
            <a:r>
              <a:rPr lang="en-US" sz="2500" dirty="0"/>
              <a:t>Consumer optimize his benefit as deciding consume at point O, which is the contact point between the highest indifferent curve that makes contact with budget constraint line </a:t>
            </a:r>
          </a:p>
        </p:txBody>
      </p:sp>
      <p:sp>
        <p:nvSpPr>
          <p:cNvPr id="6" name="Title 1"/>
          <p:cNvSpPr>
            <a:spLocks noGrp="1"/>
          </p:cNvSpPr>
          <p:nvPr>
            <p:ph type="title"/>
          </p:nvPr>
        </p:nvSpPr>
        <p:spPr>
          <a:xfrm>
            <a:off x="762000" y="228600"/>
            <a:ext cx="8001000" cy="655638"/>
          </a:xfrm>
        </p:spPr>
        <p:txBody>
          <a:bodyPr>
            <a:normAutofit fontScale="90000"/>
          </a:bodyPr>
          <a:lstStyle/>
          <a:p>
            <a:r>
              <a:rPr lang="en-US" dirty="0"/>
              <a:t>II Irving Fisher and Inter-temporal choice</a:t>
            </a:r>
          </a:p>
        </p:txBody>
      </p:sp>
    </p:spTree>
    <p:extLst>
      <p:ext uri="{BB962C8B-B14F-4D97-AF65-F5344CB8AC3E}">
        <p14:creationId xmlns:p14="http://schemas.microsoft.com/office/powerpoint/2010/main" val="8228646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838200" y="1143000"/>
            <a:ext cx="7772400" cy="4572000"/>
          </a:xfrm>
        </p:spPr>
        <p:txBody>
          <a:bodyPr/>
          <a:lstStyle/>
          <a:p>
            <a:r>
              <a:rPr lang="en-US" dirty="0"/>
              <a:t>Effect on consumption decision as income changes</a:t>
            </a:r>
          </a:p>
        </p:txBody>
      </p:sp>
      <p:pic>
        <p:nvPicPr>
          <p:cNvPr id="4" name="Picture 3"/>
          <p:cNvPicPr/>
          <p:nvPr/>
        </p:nvPicPr>
        <p:blipFill>
          <a:blip r:embed="rId2" cstate="print"/>
          <a:srcRect t="11745"/>
          <a:stretch>
            <a:fillRect/>
          </a:stretch>
        </p:blipFill>
        <p:spPr bwMode="auto">
          <a:xfrm>
            <a:off x="1371600" y="1828800"/>
            <a:ext cx="6552728" cy="4248472"/>
          </a:xfrm>
          <a:prstGeom prst="rect">
            <a:avLst/>
          </a:prstGeom>
          <a:noFill/>
          <a:ln w="9525">
            <a:noFill/>
            <a:miter lim="800000"/>
            <a:headEnd/>
            <a:tailEnd/>
          </a:ln>
        </p:spPr>
      </p:pic>
      <p:sp>
        <p:nvSpPr>
          <p:cNvPr id="6" name="Title 1"/>
          <p:cNvSpPr>
            <a:spLocks noGrp="1"/>
          </p:cNvSpPr>
          <p:nvPr>
            <p:ph type="title"/>
          </p:nvPr>
        </p:nvSpPr>
        <p:spPr>
          <a:xfrm>
            <a:off x="914400" y="304800"/>
            <a:ext cx="8001000" cy="731838"/>
          </a:xfrm>
        </p:spPr>
        <p:txBody>
          <a:bodyPr>
            <a:normAutofit fontScale="90000"/>
          </a:bodyPr>
          <a:lstStyle/>
          <a:p>
            <a:r>
              <a:rPr lang="en-US" dirty="0"/>
              <a:t>II Irving Fisher and Inter-temporal choice</a:t>
            </a:r>
          </a:p>
        </p:txBody>
      </p:sp>
    </p:spTree>
    <p:extLst>
      <p:ext uri="{BB962C8B-B14F-4D97-AF65-F5344CB8AC3E}">
        <p14:creationId xmlns:p14="http://schemas.microsoft.com/office/powerpoint/2010/main" val="5858924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885637" y="1143000"/>
            <a:ext cx="7772400" cy="4572000"/>
          </a:xfrm>
        </p:spPr>
        <p:txBody>
          <a:bodyPr/>
          <a:lstStyle/>
          <a:p>
            <a:r>
              <a:rPr lang="en-US" dirty="0"/>
              <a:t>Effect on consumption decision as interest rate changes </a:t>
            </a:r>
          </a:p>
        </p:txBody>
      </p:sp>
      <p:pic>
        <p:nvPicPr>
          <p:cNvPr id="5" name="Picture 4"/>
          <p:cNvPicPr/>
          <p:nvPr/>
        </p:nvPicPr>
        <p:blipFill>
          <a:blip r:embed="rId2" cstate="print"/>
          <a:srcRect t="9630"/>
          <a:stretch>
            <a:fillRect/>
          </a:stretch>
        </p:blipFill>
        <p:spPr bwMode="auto">
          <a:xfrm>
            <a:off x="1614054" y="1676400"/>
            <a:ext cx="6370984" cy="4200128"/>
          </a:xfrm>
          <a:prstGeom prst="rect">
            <a:avLst/>
          </a:prstGeom>
          <a:noFill/>
          <a:ln w="9525">
            <a:noFill/>
            <a:miter lim="800000"/>
            <a:headEnd/>
            <a:tailEnd/>
          </a:ln>
        </p:spPr>
      </p:pic>
      <p:sp>
        <p:nvSpPr>
          <p:cNvPr id="6" name="Title 1"/>
          <p:cNvSpPr>
            <a:spLocks noGrp="1"/>
          </p:cNvSpPr>
          <p:nvPr>
            <p:ph type="title"/>
          </p:nvPr>
        </p:nvSpPr>
        <p:spPr>
          <a:xfrm>
            <a:off x="809437" y="228600"/>
            <a:ext cx="7924800" cy="884238"/>
          </a:xfrm>
        </p:spPr>
        <p:txBody>
          <a:bodyPr>
            <a:normAutofit fontScale="90000"/>
          </a:bodyPr>
          <a:lstStyle/>
          <a:p>
            <a:r>
              <a:rPr lang="en-US" dirty="0"/>
              <a:t>II Irving Fisher and Inter-temporal choice</a:t>
            </a:r>
          </a:p>
        </p:txBody>
      </p:sp>
    </p:spTree>
    <p:extLst>
      <p:ext uri="{BB962C8B-B14F-4D97-AF65-F5344CB8AC3E}">
        <p14:creationId xmlns:p14="http://schemas.microsoft.com/office/powerpoint/2010/main" val="24708096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lstStyle/>
          <a:p>
            <a:r>
              <a:rPr lang="en-US" dirty="0"/>
              <a:t>Effect on consumption decision as interest rate changes </a:t>
            </a:r>
          </a:p>
          <a:p>
            <a:pPr marL="0" indent="0">
              <a:buNone/>
            </a:pPr>
            <a:r>
              <a:rPr lang="en-US" dirty="0"/>
              <a:t>+ Income effect: </a:t>
            </a:r>
            <a:r>
              <a:rPr lang="en-US" altLang="en-US" dirty="0"/>
              <a:t>the change in consumption that results from the movement to a higher indifference curve</a:t>
            </a:r>
            <a:endParaRPr lang="en-US" dirty="0"/>
          </a:p>
          <a:p>
            <a:pPr marL="0" indent="0">
              <a:buNone/>
            </a:pPr>
            <a:r>
              <a:rPr lang="en-US" dirty="0"/>
              <a:t>+ Substitution effect: </a:t>
            </a:r>
            <a:r>
              <a:rPr lang="en-US" altLang="en-US" dirty="0"/>
              <a:t>the change in consumption that results from the change in the relative price of consumption in the two periods</a:t>
            </a:r>
            <a:endParaRPr lang="en-US" dirty="0"/>
          </a:p>
          <a:p>
            <a:pPr marL="0" indent="0">
              <a:buNone/>
            </a:pPr>
            <a:endParaRPr lang="en-US" dirty="0"/>
          </a:p>
        </p:txBody>
      </p:sp>
      <p:sp>
        <p:nvSpPr>
          <p:cNvPr id="4" name="Title 1"/>
          <p:cNvSpPr>
            <a:spLocks noGrp="1"/>
          </p:cNvSpPr>
          <p:nvPr>
            <p:ph type="title"/>
          </p:nvPr>
        </p:nvSpPr>
        <p:spPr/>
        <p:txBody>
          <a:bodyPr>
            <a:normAutofit fontScale="90000"/>
          </a:bodyPr>
          <a:lstStyle/>
          <a:p>
            <a:r>
              <a:rPr lang="en-US" dirty="0"/>
              <a:t>II Irving Fisher and Inter-temporal choice</a:t>
            </a:r>
          </a:p>
        </p:txBody>
      </p:sp>
      <p:graphicFrame>
        <p:nvGraphicFramePr>
          <p:cNvPr id="5" name="Table 4"/>
          <p:cNvGraphicFramePr>
            <a:graphicFrameLocks noGrp="1"/>
          </p:cNvGraphicFramePr>
          <p:nvPr>
            <p:extLst>
              <p:ext uri="{D42A27DB-BD31-4B8C-83A1-F6EECF244321}">
                <p14:modId xmlns:p14="http://schemas.microsoft.com/office/powerpoint/2010/main" val="553332328"/>
              </p:ext>
            </p:extLst>
          </p:nvPr>
        </p:nvGraphicFramePr>
        <p:xfrm>
          <a:off x="1835696" y="4077072"/>
          <a:ext cx="6080760" cy="2035620"/>
        </p:xfrm>
        <a:graphic>
          <a:graphicData uri="http://schemas.openxmlformats.org/drawingml/2006/table">
            <a:tbl>
              <a:tblPr/>
              <a:tblGrid>
                <a:gridCol w="1520190">
                  <a:extLst>
                    <a:ext uri="{9D8B030D-6E8A-4147-A177-3AD203B41FA5}">
                      <a16:colId xmlns:a16="http://schemas.microsoft.com/office/drawing/2014/main" val="20000"/>
                    </a:ext>
                  </a:extLst>
                </a:gridCol>
                <a:gridCol w="1520190">
                  <a:extLst>
                    <a:ext uri="{9D8B030D-6E8A-4147-A177-3AD203B41FA5}">
                      <a16:colId xmlns:a16="http://schemas.microsoft.com/office/drawing/2014/main" val="20001"/>
                    </a:ext>
                  </a:extLst>
                </a:gridCol>
                <a:gridCol w="1520190">
                  <a:extLst>
                    <a:ext uri="{9D8B030D-6E8A-4147-A177-3AD203B41FA5}">
                      <a16:colId xmlns:a16="http://schemas.microsoft.com/office/drawing/2014/main" val="20002"/>
                    </a:ext>
                  </a:extLst>
                </a:gridCol>
                <a:gridCol w="1520190">
                  <a:extLst>
                    <a:ext uri="{9D8B030D-6E8A-4147-A177-3AD203B41FA5}">
                      <a16:colId xmlns:a16="http://schemas.microsoft.com/office/drawing/2014/main" val="20003"/>
                    </a:ext>
                  </a:extLst>
                </a:gridCol>
              </a:tblGrid>
              <a:tr h="0">
                <a:tc>
                  <a:txBody>
                    <a:bodyPr/>
                    <a:lstStyle/>
                    <a:p>
                      <a:pPr algn="ctr">
                        <a:lnSpc>
                          <a:spcPct val="150000"/>
                        </a:lnSpc>
                        <a:spcAft>
                          <a:spcPts val="0"/>
                        </a:spcAft>
                      </a:pPr>
                      <a:endParaRPr lang="en-US" sz="2000" dirty="0">
                        <a:latin typeface="Times New Roman"/>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endParaRPr lang="en-US" sz="2000">
                        <a:latin typeface="Times New Roman"/>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000" dirty="0">
                          <a:latin typeface="Times New Roman"/>
                          <a:ea typeface="Calibri"/>
                          <a:cs typeface="Times New Roman"/>
                        </a:rPr>
                        <a:t>C</a:t>
                      </a:r>
                      <a:r>
                        <a:rPr lang="en-US" sz="2000" baseline="-25000" dirty="0">
                          <a:latin typeface="Times New Roman"/>
                          <a:ea typeface="Calibri"/>
                          <a:cs typeface="Times New Roman"/>
                        </a:rPr>
                        <a:t>1</a:t>
                      </a:r>
                      <a:endParaRPr lang="en-US" sz="2000" baseline="-250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000">
                          <a:latin typeface="Times New Roman"/>
                          <a:ea typeface="Calibri"/>
                          <a:cs typeface="Times New Roman"/>
                        </a:rPr>
                        <a:t>C</a:t>
                      </a:r>
                      <a:r>
                        <a:rPr lang="en-US" sz="2000" baseline="-25000">
                          <a:latin typeface="Times New Roman"/>
                          <a:ea typeface="Calibri"/>
                          <a:cs typeface="Times New Roman"/>
                        </a:rPr>
                        <a:t>2</a:t>
                      </a:r>
                      <a:endParaRPr lang="en-US" sz="2000" baseline="-2500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0">
                <a:tc rowSpan="2">
                  <a:txBody>
                    <a:bodyPr/>
                    <a:lstStyle/>
                    <a:p>
                      <a:pPr algn="ctr">
                        <a:lnSpc>
                          <a:spcPct val="150000"/>
                        </a:lnSpc>
                        <a:spcAft>
                          <a:spcPts val="0"/>
                        </a:spcAft>
                      </a:pPr>
                      <a:r>
                        <a:rPr lang="en-US" sz="2000" i="0">
                          <a:latin typeface="Times New Roman"/>
                          <a:ea typeface="Calibri"/>
                          <a:cs typeface="Times New Roman"/>
                        </a:rPr>
                        <a:t>S</a:t>
                      </a:r>
                      <a:r>
                        <a:rPr lang="en-US" sz="2000" i="0" baseline="-25000">
                          <a:latin typeface="Times New Roman"/>
                          <a:ea typeface="Calibri"/>
                          <a:cs typeface="Times New Roman"/>
                        </a:rPr>
                        <a:t>1</a:t>
                      </a:r>
                      <a:r>
                        <a:rPr lang="en-US" sz="2000" i="0">
                          <a:latin typeface="Times New Roman"/>
                          <a:ea typeface="Calibri"/>
                          <a:cs typeface="Times New Roman"/>
                        </a:rPr>
                        <a:t> &gt; 0</a:t>
                      </a:r>
                      <a:endParaRPr lang="en-US" sz="2000" i="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000" dirty="0">
                          <a:latin typeface="Times New Roman"/>
                          <a:ea typeface="Calibri"/>
                          <a:cs typeface="Times New Roman"/>
                        </a:rPr>
                        <a:t>r increases</a:t>
                      </a:r>
                      <a:endParaRPr lang="en-US" sz="20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000" dirty="0">
                          <a:latin typeface="Times New Roman"/>
                          <a:ea typeface="Calibri"/>
                          <a:cs typeface="Times New Roman"/>
                        </a:rPr>
                        <a:t>ambiguous </a:t>
                      </a:r>
                      <a:endParaRPr lang="en-US" sz="20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000" dirty="0">
                          <a:latin typeface="Times New Roman"/>
                          <a:ea typeface="Calibri"/>
                          <a:cs typeface="Times New Roman"/>
                        </a:rPr>
                        <a:t>increase</a:t>
                      </a:r>
                      <a:endParaRPr lang="en-US" sz="20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0">
                <a:tc vMerge="1">
                  <a:txBody>
                    <a:bodyPr/>
                    <a:lstStyle/>
                    <a:p>
                      <a:endParaRPr lang="en-US"/>
                    </a:p>
                  </a:txBody>
                  <a:tcPr/>
                </a:tc>
                <a:tc>
                  <a:txBody>
                    <a:bodyPr/>
                    <a:lstStyle/>
                    <a:p>
                      <a:pPr algn="ctr">
                        <a:lnSpc>
                          <a:spcPct val="150000"/>
                        </a:lnSpc>
                        <a:spcAft>
                          <a:spcPts val="0"/>
                        </a:spcAft>
                      </a:pPr>
                      <a:r>
                        <a:rPr lang="en-US" sz="2000" dirty="0">
                          <a:latin typeface="Times New Roman"/>
                          <a:ea typeface="Calibri"/>
                          <a:cs typeface="Times New Roman"/>
                        </a:rPr>
                        <a:t>r decreases</a:t>
                      </a:r>
                      <a:endParaRPr lang="en-US" sz="20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000" dirty="0">
                          <a:latin typeface="Times New Roman"/>
                          <a:ea typeface="Calibri"/>
                          <a:cs typeface="Times New Roman"/>
                        </a:rPr>
                        <a:t>ambiguous</a:t>
                      </a:r>
                      <a:endParaRPr lang="en-US" sz="20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000" dirty="0">
                          <a:latin typeface="Times New Roman"/>
                          <a:ea typeface="Calibri"/>
                          <a:cs typeface="Times New Roman"/>
                        </a:rPr>
                        <a:t>decrease</a:t>
                      </a:r>
                      <a:endParaRPr lang="en-US" sz="20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0">
                <a:tc rowSpan="2">
                  <a:txBody>
                    <a:bodyPr/>
                    <a:lstStyle/>
                    <a:p>
                      <a:pPr algn="ctr">
                        <a:lnSpc>
                          <a:spcPct val="150000"/>
                        </a:lnSpc>
                        <a:spcAft>
                          <a:spcPts val="0"/>
                        </a:spcAft>
                      </a:pPr>
                      <a:r>
                        <a:rPr lang="en-US" sz="2000">
                          <a:latin typeface="Times New Roman"/>
                          <a:ea typeface="Calibri"/>
                          <a:cs typeface="Times New Roman"/>
                        </a:rPr>
                        <a:t>S</a:t>
                      </a:r>
                      <a:r>
                        <a:rPr lang="en-US" sz="2000" baseline="-25000">
                          <a:latin typeface="Times New Roman"/>
                          <a:ea typeface="Calibri"/>
                          <a:cs typeface="Times New Roman"/>
                        </a:rPr>
                        <a:t>1</a:t>
                      </a:r>
                      <a:r>
                        <a:rPr lang="en-US" sz="2000">
                          <a:latin typeface="Times New Roman"/>
                          <a:ea typeface="Calibri"/>
                          <a:cs typeface="Times New Roman"/>
                        </a:rPr>
                        <a:t> &lt; 0</a:t>
                      </a:r>
                      <a:endParaRPr lang="en-US" sz="200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000" dirty="0">
                          <a:latin typeface="Times New Roman"/>
                          <a:ea typeface="Calibri"/>
                          <a:cs typeface="Times New Roman"/>
                        </a:rPr>
                        <a:t>r increases</a:t>
                      </a:r>
                      <a:endParaRPr lang="en-US" sz="20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000" dirty="0">
                          <a:latin typeface="Times New Roman"/>
                          <a:ea typeface="Calibri"/>
                          <a:cs typeface="Times New Roman"/>
                        </a:rPr>
                        <a:t>decrease</a:t>
                      </a:r>
                      <a:endParaRPr lang="en-US" sz="20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000" dirty="0">
                          <a:latin typeface="Times New Roman"/>
                          <a:ea typeface="Calibri"/>
                          <a:cs typeface="Times New Roman"/>
                        </a:rPr>
                        <a:t>ambiguous </a:t>
                      </a:r>
                      <a:endParaRPr lang="en-US" sz="20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0">
                <a:tc vMerge="1">
                  <a:txBody>
                    <a:bodyPr/>
                    <a:lstStyle/>
                    <a:p>
                      <a:endParaRPr lang="en-US"/>
                    </a:p>
                  </a:txBody>
                  <a:tcPr/>
                </a:tc>
                <a:tc>
                  <a:txBody>
                    <a:bodyPr/>
                    <a:lstStyle/>
                    <a:p>
                      <a:pPr algn="ctr">
                        <a:lnSpc>
                          <a:spcPct val="150000"/>
                        </a:lnSpc>
                        <a:spcAft>
                          <a:spcPts val="0"/>
                        </a:spcAft>
                      </a:pPr>
                      <a:r>
                        <a:rPr lang="en-US" sz="2000" dirty="0">
                          <a:latin typeface="Times New Roman"/>
                          <a:ea typeface="Calibri"/>
                          <a:cs typeface="Times New Roman"/>
                        </a:rPr>
                        <a:t>r decreases</a:t>
                      </a:r>
                      <a:endParaRPr lang="en-US" sz="20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000" dirty="0">
                          <a:latin typeface="Times New Roman"/>
                          <a:ea typeface="Calibri"/>
                          <a:cs typeface="Times New Roman"/>
                        </a:rPr>
                        <a:t>increase</a:t>
                      </a:r>
                      <a:endParaRPr lang="en-US" sz="20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000" dirty="0">
                          <a:latin typeface="Times New Roman"/>
                          <a:ea typeface="Calibri"/>
                          <a:cs typeface="Times New Roman"/>
                        </a:rPr>
                        <a:t>ambiguous</a:t>
                      </a:r>
                      <a:endParaRPr lang="en-US" sz="20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8858111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normAutofit/>
          </a:bodyPr>
          <a:lstStyle/>
          <a:p>
            <a:pPr marL="0" indent="0">
              <a:buNone/>
            </a:pPr>
            <a:r>
              <a:rPr lang="en-US" altLang="en-US" dirty="0"/>
              <a:t>In the 1950s, Franco Modigliani, Ando, and </a:t>
            </a:r>
            <a:r>
              <a:rPr lang="en-US" altLang="en-US" dirty="0" err="1"/>
              <a:t>Brumberg</a:t>
            </a:r>
            <a:r>
              <a:rPr lang="en-US" altLang="en-US" dirty="0"/>
              <a:t> used Fisher’s model of consumer behavior to study the consumption function. One of their goals was to study the consumption puzzle.  According to Fisher’s model, consumption depends on a person’s lifetime income. Modigliani emphasized that income varies systematically over people’s lives and that saving allows consumers to move income from those times in life when income is high to those times when income is low.  This interpretation of consumer behavior formed the basis of his  </a:t>
            </a:r>
            <a:r>
              <a:rPr lang="en-US" altLang="en-US" b="1" i="1" dirty="0"/>
              <a:t>life-cycle hypothesis.</a:t>
            </a:r>
            <a:endParaRPr lang="en-US" altLang="en-US" dirty="0"/>
          </a:p>
          <a:p>
            <a:endParaRPr lang="en-US" dirty="0"/>
          </a:p>
        </p:txBody>
      </p:sp>
      <p:sp>
        <p:nvSpPr>
          <p:cNvPr id="4" name="Title 1"/>
          <p:cNvSpPr>
            <a:spLocks noGrp="1"/>
          </p:cNvSpPr>
          <p:nvPr>
            <p:ph type="title"/>
          </p:nvPr>
        </p:nvSpPr>
        <p:spPr/>
        <p:txBody>
          <a:bodyPr>
            <a:normAutofit fontScale="90000"/>
          </a:bodyPr>
          <a:lstStyle/>
          <a:p>
            <a:r>
              <a:rPr lang="en-US" dirty="0"/>
              <a:t>III Franco Modigliani and the life – cycle hypothesis</a:t>
            </a:r>
          </a:p>
        </p:txBody>
      </p:sp>
    </p:spTree>
    <p:extLst>
      <p:ext uri="{BB962C8B-B14F-4D97-AF65-F5344CB8AC3E}">
        <p14:creationId xmlns:p14="http://schemas.microsoft.com/office/powerpoint/2010/main" val="17306281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normAutofit/>
          </a:bodyPr>
          <a:lstStyle/>
          <a:p>
            <a:r>
              <a:rPr lang="en-US" dirty="0"/>
              <a:t>Assume that a person will live more T years and works more R years. He owns wealth that values W and expect annual income Y until retirement. To smooth consumption over the rest of his life, which type of consumption pattern he will decide</a:t>
            </a:r>
          </a:p>
          <a:p>
            <a:r>
              <a:rPr lang="en-US" dirty="0"/>
              <a:t>According </a:t>
            </a:r>
            <a:r>
              <a:rPr lang="en-US"/>
              <a:t>to Life-cycle </a:t>
            </a:r>
            <a:r>
              <a:rPr lang="en-US" dirty="0"/>
              <a:t>Hypothesis </a:t>
            </a:r>
          </a:p>
          <a:p>
            <a:pPr marL="0" indent="0" algn="ctr">
              <a:buNone/>
            </a:pPr>
            <a:r>
              <a:rPr lang="en-US" dirty="0"/>
              <a:t>C = (W + RY)/T  or C = (1/T) W + (R/T)Y</a:t>
            </a:r>
          </a:p>
          <a:p>
            <a:pPr marL="0" indent="0" algn="just">
              <a:buNone/>
            </a:pPr>
            <a:r>
              <a:rPr lang="en-US" dirty="0"/>
              <a:t>E.g. T = 50, R = 30 </a:t>
            </a:r>
            <a:r>
              <a:rPr lang="en-US" dirty="0">
                <a:cs typeface="Times New Roman"/>
              </a:rPr>
              <a:t>→ C = 0.02W + 0.6Y</a:t>
            </a:r>
          </a:p>
          <a:p>
            <a:pPr marL="0" indent="0" algn="just">
              <a:buNone/>
            </a:pPr>
            <a:r>
              <a:rPr lang="en-US" dirty="0">
                <a:cs typeface="Times New Roman"/>
              </a:rPr>
              <a:t>In general form we have </a:t>
            </a:r>
            <a:r>
              <a:rPr lang="en-US" b="1" dirty="0"/>
              <a:t>C = αW + βY </a:t>
            </a:r>
            <a:r>
              <a:rPr lang="en-US" dirty="0"/>
              <a:t>in which, </a:t>
            </a:r>
            <a:r>
              <a:rPr lang="en-US" b="1" dirty="0"/>
              <a:t>α </a:t>
            </a:r>
            <a:r>
              <a:rPr lang="en-US" dirty="0"/>
              <a:t>measures MPC regarding wealth and </a:t>
            </a:r>
            <a:r>
              <a:rPr lang="en-US" b="1" dirty="0"/>
              <a:t>β </a:t>
            </a:r>
            <a:r>
              <a:rPr lang="en-US" dirty="0"/>
              <a:t>measures MPC regarding income</a:t>
            </a:r>
          </a:p>
        </p:txBody>
      </p:sp>
      <p:sp>
        <p:nvSpPr>
          <p:cNvPr id="5" name="Title 1"/>
          <p:cNvSpPr>
            <a:spLocks noGrp="1"/>
          </p:cNvSpPr>
          <p:nvPr>
            <p:ph type="title"/>
          </p:nvPr>
        </p:nvSpPr>
        <p:spPr/>
        <p:txBody>
          <a:bodyPr>
            <a:normAutofit fontScale="90000"/>
          </a:bodyPr>
          <a:lstStyle/>
          <a:p>
            <a:r>
              <a:rPr lang="en-US" dirty="0"/>
              <a:t>III Franco Modigliani and the life – cycle hypothesis</a:t>
            </a:r>
          </a:p>
        </p:txBody>
      </p:sp>
    </p:spTree>
    <p:extLst>
      <p:ext uri="{BB962C8B-B14F-4D97-AF65-F5344CB8AC3E}">
        <p14:creationId xmlns:p14="http://schemas.microsoft.com/office/powerpoint/2010/main" val="24201366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III Franco Modigliani and the life – cycle hypothesis</a:t>
            </a:r>
          </a:p>
        </p:txBody>
      </p:sp>
      <p:sp>
        <p:nvSpPr>
          <p:cNvPr id="3" name="Content Placeholder 2"/>
          <p:cNvSpPr>
            <a:spLocks noGrp="1"/>
          </p:cNvSpPr>
          <p:nvPr>
            <p:ph sz="quarter" idx="1"/>
          </p:nvPr>
        </p:nvSpPr>
        <p:spPr/>
        <p:txBody>
          <a:bodyPr/>
          <a:lstStyle/>
          <a:p>
            <a:r>
              <a:rPr lang="en-US" dirty="0"/>
              <a:t>Life – cycle hypothesis explains why APC is constant in the long – run</a:t>
            </a:r>
          </a:p>
          <a:p>
            <a:pPr marL="0" lvl="2" indent="0" algn="ctr">
              <a:spcBef>
                <a:spcPts val="580"/>
              </a:spcBef>
              <a:buClr>
                <a:schemeClr val="accent1"/>
              </a:buClr>
              <a:buNone/>
            </a:pPr>
            <a:r>
              <a:rPr lang="vi-VN" sz="2300" dirty="0">
                <a:cs typeface="Times New Roman" pitchFamily="18" charset="0"/>
              </a:rPr>
              <a:t>APC = C /Y = (</a:t>
            </a:r>
            <a:r>
              <a:rPr lang="en-US" sz="2300" dirty="0">
                <a:latin typeface="Perpetua" panose="02020502060401020303" pitchFamily="18" charset="0"/>
              </a:rPr>
              <a:t>α</a:t>
            </a:r>
            <a:r>
              <a:rPr lang="vi-VN" sz="2300" dirty="0">
                <a:cs typeface="Times New Roman" pitchFamily="18" charset="0"/>
              </a:rPr>
              <a:t>W + </a:t>
            </a:r>
            <a:r>
              <a:rPr lang="en-US" sz="2300" dirty="0">
                <a:latin typeface="Perpetua" panose="02020502060401020303" pitchFamily="18" charset="0"/>
              </a:rPr>
              <a:t>β</a:t>
            </a:r>
            <a:r>
              <a:rPr lang="vi-VN" sz="2300" dirty="0">
                <a:cs typeface="Times New Roman" pitchFamily="18" charset="0"/>
              </a:rPr>
              <a:t>Y)/Y = </a:t>
            </a:r>
            <a:r>
              <a:rPr lang="en-US" sz="2300" dirty="0">
                <a:latin typeface="Perpetua" panose="02020502060401020303" pitchFamily="18" charset="0"/>
              </a:rPr>
              <a:t>α</a:t>
            </a:r>
            <a:r>
              <a:rPr lang="vi-VN" sz="2300" dirty="0"/>
              <a:t>W</a:t>
            </a:r>
            <a:r>
              <a:rPr lang="vi-VN" sz="2300" dirty="0">
                <a:cs typeface="Times New Roman" pitchFamily="18" charset="0"/>
              </a:rPr>
              <a:t>/Y + </a:t>
            </a:r>
            <a:r>
              <a:rPr lang="en-US" sz="2300" dirty="0">
                <a:latin typeface="Perpetua" panose="02020502060401020303" pitchFamily="18" charset="0"/>
              </a:rPr>
              <a:t>β</a:t>
            </a:r>
          </a:p>
          <a:p>
            <a:endParaRPr lang="en-US" dirty="0"/>
          </a:p>
        </p:txBody>
      </p:sp>
      <p:pic>
        <p:nvPicPr>
          <p:cNvPr id="4" name="Picture 3"/>
          <p:cNvPicPr/>
          <p:nvPr/>
        </p:nvPicPr>
        <p:blipFill>
          <a:blip r:embed="rId2" cstate="print"/>
          <a:srcRect/>
          <a:stretch>
            <a:fillRect/>
          </a:stretch>
        </p:blipFill>
        <p:spPr bwMode="auto">
          <a:xfrm>
            <a:off x="311727" y="2819400"/>
            <a:ext cx="4114800" cy="2743200"/>
          </a:xfrm>
          <a:prstGeom prst="rect">
            <a:avLst/>
          </a:prstGeom>
          <a:noFill/>
          <a:ln w="9525">
            <a:noFill/>
            <a:miter lim="800000"/>
            <a:headEnd/>
            <a:tailEnd/>
          </a:ln>
        </p:spPr>
      </p:pic>
      <p:pic>
        <p:nvPicPr>
          <p:cNvPr id="5" name="Picture 4"/>
          <p:cNvPicPr/>
          <p:nvPr/>
        </p:nvPicPr>
        <p:blipFill>
          <a:blip r:embed="rId3" cstate="print"/>
          <a:srcRect t="8434"/>
          <a:stretch>
            <a:fillRect/>
          </a:stretch>
        </p:blipFill>
        <p:spPr bwMode="auto">
          <a:xfrm>
            <a:off x="4724400" y="3505200"/>
            <a:ext cx="4114800" cy="2872679"/>
          </a:xfrm>
          <a:prstGeom prst="rect">
            <a:avLst/>
          </a:prstGeom>
          <a:noFill/>
          <a:ln w="9525">
            <a:noFill/>
            <a:miter lim="800000"/>
            <a:headEnd/>
            <a:tailEnd/>
          </a:ln>
        </p:spPr>
      </p:pic>
    </p:spTree>
    <p:extLst>
      <p:ext uri="{BB962C8B-B14F-4D97-AF65-F5344CB8AC3E}">
        <p14:creationId xmlns:p14="http://schemas.microsoft.com/office/powerpoint/2010/main" val="18421889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IV Milton Friedman and the Permanent – Income Hypothesis</a:t>
            </a:r>
          </a:p>
        </p:txBody>
      </p:sp>
      <p:sp>
        <p:nvSpPr>
          <p:cNvPr id="3" name="Content Placeholder 2"/>
          <p:cNvSpPr>
            <a:spLocks noGrp="1"/>
          </p:cNvSpPr>
          <p:nvPr>
            <p:ph sz="quarter" idx="1"/>
          </p:nvPr>
        </p:nvSpPr>
        <p:spPr>
          <a:xfrm>
            <a:off x="152400" y="1447800"/>
            <a:ext cx="8839200" cy="5105400"/>
          </a:xfrm>
        </p:spPr>
        <p:txBody>
          <a:bodyPr>
            <a:normAutofit fontScale="92500" lnSpcReduction="10000"/>
          </a:bodyPr>
          <a:lstStyle/>
          <a:p>
            <a:r>
              <a:rPr lang="en-US" altLang="en-US" dirty="0"/>
              <a:t>In 1957, Milton Friedman proposed the </a:t>
            </a:r>
            <a:r>
              <a:rPr lang="en-US" altLang="en-US" b="1" i="1" dirty="0"/>
              <a:t>permanent-income hypothesis </a:t>
            </a:r>
            <a:r>
              <a:rPr lang="en-US" altLang="en-US" dirty="0"/>
              <a:t>to explain consumer behavior. Its essence is that current consumption is proportional to permanent income.  Friedman’s permanent-income  hypothesis complements Modigliani’s life-cycle hypothesis: both use  Fisher’s theory of the consumer to argue that consumption should not  depend on current income alone.  But unlike the life-cycle hypothesis,  which emphasizes that income follows a regular pattern over a person’s lifetime, the permanent-income hypothesis emphasizes that people experience random and temporary changes in their incomes from year to year.</a:t>
            </a:r>
          </a:p>
          <a:p>
            <a:endParaRPr lang="en-US" altLang="en-US" b="1" i="1" dirty="0"/>
          </a:p>
          <a:p>
            <a:r>
              <a:rPr lang="en-US" altLang="en-US" dirty="0"/>
              <a:t>Friedman suggested that we view current income </a:t>
            </a:r>
            <a:r>
              <a:rPr lang="en-US" altLang="en-US" i="1" dirty="0"/>
              <a:t>Y</a:t>
            </a:r>
            <a:r>
              <a:rPr lang="en-US" altLang="en-US" dirty="0"/>
              <a:t> as the sum of two components, </a:t>
            </a:r>
            <a:r>
              <a:rPr lang="en-US" altLang="en-US" b="1" dirty="0"/>
              <a:t>permanent income</a:t>
            </a:r>
            <a:r>
              <a:rPr lang="en-US" altLang="en-US" dirty="0"/>
              <a:t> </a:t>
            </a:r>
            <a:r>
              <a:rPr lang="en-US" altLang="en-US" i="1" dirty="0"/>
              <a:t>Y</a:t>
            </a:r>
            <a:r>
              <a:rPr lang="en-US" altLang="en-US" baseline="30000" dirty="0"/>
              <a:t>P</a:t>
            </a:r>
            <a:r>
              <a:rPr lang="en-US" altLang="en-US" dirty="0"/>
              <a:t> and </a:t>
            </a:r>
            <a:r>
              <a:rPr lang="en-US" altLang="en-US" b="1" dirty="0"/>
              <a:t>transitory income</a:t>
            </a:r>
            <a:r>
              <a:rPr lang="en-US" altLang="en-US" dirty="0"/>
              <a:t> </a:t>
            </a:r>
            <a:r>
              <a:rPr lang="en-US" altLang="en-US" i="1" dirty="0"/>
              <a:t>Y</a:t>
            </a:r>
            <a:r>
              <a:rPr lang="en-US" altLang="en-US" baseline="30000" dirty="0"/>
              <a:t>T</a:t>
            </a:r>
            <a:r>
              <a:rPr lang="en-US" altLang="en-US" dirty="0"/>
              <a:t> </a:t>
            </a:r>
          </a:p>
          <a:p>
            <a:pPr marL="0" indent="0" algn="ctr">
              <a:buNone/>
            </a:pPr>
            <a:r>
              <a:rPr lang="en-US" dirty="0"/>
              <a:t>Y = Y</a:t>
            </a:r>
            <a:r>
              <a:rPr lang="en-US" baseline="30000" dirty="0"/>
              <a:t>P</a:t>
            </a:r>
            <a:r>
              <a:rPr lang="en-US" dirty="0"/>
              <a:t>+Y</a:t>
            </a:r>
            <a:r>
              <a:rPr lang="en-US" baseline="30000" dirty="0"/>
              <a:t>T</a:t>
            </a:r>
          </a:p>
          <a:p>
            <a:endParaRPr lang="en-US" altLang="en-US" dirty="0"/>
          </a:p>
          <a:p>
            <a:endParaRPr lang="en-US" dirty="0"/>
          </a:p>
        </p:txBody>
      </p:sp>
    </p:spTree>
    <p:extLst>
      <p:ext uri="{BB962C8B-B14F-4D97-AF65-F5344CB8AC3E}">
        <p14:creationId xmlns:p14="http://schemas.microsoft.com/office/powerpoint/2010/main" val="36666300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914400" y="1447800"/>
            <a:ext cx="7772400" cy="4953000"/>
          </a:xfrm>
        </p:spPr>
        <p:txBody>
          <a:bodyPr>
            <a:normAutofit/>
          </a:bodyPr>
          <a:lstStyle/>
          <a:p>
            <a:r>
              <a:rPr lang="en-US" altLang="en-US" sz="2800" b="1" dirty="0"/>
              <a:t>permanent income </a:t>
            </a:r>
            <a:r>
              <a:rPr lang="en-US" altLang="en-US" sz="2800" dirty="0"/>
              <a:t>could be attributed to average income; </a:t>
            </a:r>
            <a:r>
              <a:rPr lang="en-US" altLang="en-US" sz="2800" b="1" dirty="0"/>
              <a:t>transitory income</a:t>
            </a:r>
            <a:r>
              <a:rPr lang="en-US" altLang="en-US" sz="2800" dirty="0"/>
              <a:t>  could be attributed to error between actual income and average income</a:t>
            </a:r>
          </a:p>
          <a:p>
            <a:pPr marL="0" indent="0">
              <a:buNone/>
            </a:pPr>
            <a:endParaRPr lang="en-US" altLang="en-US" sz="2800" dirty="0"/>
          </a:p>
          <a:p>
            <a:r>
              <a:rPr lang="en-US" sz="2800" dirty="0"/>
              <a:t>Milton Friedman concluded that we can approximately formulate consumption function as </a:t>
            </a:r>
            <a:r>
              <a:rPr lang="en-US" sz="2800" b="1" i="1" dirty="0"/>
              <a:t>C = αY</a:t>
            </a:r>
            <a:r>
              <a:rPr lang="en-US" sz="2800" b="1" i="1" baseline="30000" dirty="0"/>
              <a:t>P </a:t>
            </a:r>
            <a:r>
              <a:rPr lang="en-US" sz="2800" dirty="0"/>
              <a:t> in which </a:t>
            </a:r>
            <a:r>
              <a:rPr lang="el-GR" sz="2800" dirty="0">
                <a:latin typeface="Corbel"/>
              </a:rPr>
              <a:t>α</a:t>
            </a:r>
            <a:r>
              <a:rPr lang="en-US" sz="2800" dirty="0">
                <a:latin typeface="Perpetua" panose="02020502060401020303" pitchFamily="18" charset="0"/>
              </a:rPr>
              <a:t> is coefficient measuring proportion of </a:t>
            </a:r>
            <a:r>
              <a:rPr lang="en-US" altLang="en-US" sz="2800" i="1" dirty="0"/>
              <a:t>Y</a:t>
            </a:r>
            <a:r>
              <a:rPr lang="en-US" altLang="en-US" sz="2800" baseline="30000" dirty="0"/>
              <a:t>P </a:t>
            </a:r>
            <a:r>
              <a:rPr lang="en-US" sz="2800" dirty="0">
                <a:latin typeface="Perpetua" panose="02020502060401020303" pitchFamily="18" charset="0"/>
              </a:rPr>
              <a:t>used for consumption. Individuals will recourse to saving or borrowing to smooth their consumption when </a:t>
            </a:r>
            <a:r>
              <a:rPr lang="en-US" altLang="en-US" sz="2800" i="1" dirty="0"/>
              <a:t>Y</a:t>
            </a:r>
            <a:r>
              <a:rPr lang="en-US" altLang="en-US" sz="2800" baseline="30000" dirty="0"/>
              <a:t>T </a:t>
            </a:r>
            <a:r>
              <a:rPr lang="en-US" sz="2800" dirty="0">
                <a:latin typeface="Perpetua" panose="02020502060401020303" pitchFamily="18" charset="0"/>
              </a:rPr>
              <a:t>changes; meaning that changes of </a:t>
            </a:r>
            <a:r>
              <a:rPr lang="en-US" altLang="en-US" sz="2800" i="1" dirty="0"/>
              <a:t>Y</a:t>
            </a:r>
            <a:r>
              <a:rPr lang="en-US" altLang="en-US" sz="2800" baseline="30000" dirty="0"/>
              <a:t>T </a:t>
            </a:r>
            <a:r>
              <a:rPr lang="en-US" altLang="en-US" sz="2800" dirty="0"/>
              <a:t>only alter saving (</a:t>
            </a:r>
            <a:r>
              <a:rPr lang="en-US" altLang="en-US" sz="2800" i="1" dirty="0"/>
              <a:t>apply to government policy that reduces tax</a:t>
            </a:r>
            <a:r>
              <a:rPr lang="en-US" altLang="en-US" sz="2800" dirty="0"/>
              <a:t>)</a:t>
            </a:r>
            <a:endParaRPr lang="en-US" sz="2800" dirty="0">
              <a:latin typeface="Perpetua" panose="02020502060401020303" pitchFamily="18" charset="0"/>
            </a:endParaRPr>
          </a:p>
        </p:txBody>
      </p:sp>
      <p:sp>
        <p:nvSpPr>
          <p:cNvPr id="4" name="Title 1"/>
          <p:cNvSpPr>
            <a:spLocks noGrp="1"/>
          </p:cNvSpPr>
          <p:nvPr>
            <p:ph type="title"/>
          </p:nvPr>
        </p:nvSpPr>
        <p:spPr/>
        <p:txBody>
          <a:bodyPr>
            <a:normAutofit fontScale="90000"/>
          </a:bodyPr>
          <a:lstStyle/>
          <a:p>
            <a:r>
              <a:rPr lang="en-US" dirty="0"/>
              <a:t>IV Milton Friedman and the Permanent – Income Hypothesis</a:t>
            </a:r>
          </a:p>
        </p:txBody>
      </p:sp>
    </p:spTree>
    <p:extLst>
      <p:ext uri="{BB962C8B-B14F-4D97-AF65-F5344CB8AC3E}">
        <p14:creationId xmlns:p14="http://schemas.microsoft.com/office/powerpoint/2010/main" val="35898252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914400" y="1447800"/>
            <a:ext cx="7772400" cy="4724400"/>
          </a:xfrm>
        </p:spPr>
        <p:txBody>
          <a:bodyPr/>
          <a:lstStyle/>
          <a:p>
            <a:r>
              <a:rPr lang="en-US" dirty="0"/>
              <a:t>APC = C/Y = αY</a:t>
            </a:r>
            <a:r>
              <a:rPr lang="en-US" baseline="30000" dirty="0"/>
              <a:t>P</a:t>
            </a:r>
            <a:r>
              <a:rPr lang="en-US" dirty="0"/>
              <a:t>/Y=αY</a:t>
            </a:r>
            <a:r>
              <a:rPr lang="en-US" baseline="30000" dirty="0"/>
              <a:t>P</a:t>
            </a:r>
            <a:r>
              <a:rPr lang="en-US" dirty="0"/>
              <a:t>/(Y</a:t>
            </a:r>
            <a:r>
              <a:rPr lang="en-US" baseline="30000" dirty="0"/>
              <a:t>P+</a:t>
            </a:r>
            <a:r>
              <a:rPr lang="en-US" dirty="0"/>
              <a:t>Y</a:t>
            </a:r>
            <a:r>
              <a:rPr lang="en-US" baseline="30000" dirty="0"/>
              <a:t>T</a:t>
            </a:r>
            <a:r>
              <a:rPr lang="en-US" dirty="0"/>
              <a:t>)</a:t>
            </a:r>
          </a:p>
          <a:p>
            <a:pPr marL="0" indent="0">
              <a:buNone/>
            </a:pPr>
            <a:r>
              <a:rPr lang="en-US" dirty="0"/>
              <a:t>+ short-run: changes in income frequently come from Y</a:t>
            </a:r>
            <a:r>
              <a:rPr lang="en-US" baseline="30000" dirty="0"/>
              <a:t>T</a:t>
            </a:r>
            <a:r>
              <a:rPr lang="en-US" dirty="0"/>
              <a:t> therefore APC decreases when Y increases</a:t>
            </a:r>
          </a:p>
          <a:p>
            <a:pPr marL="0" indent="0">
              <a:buNone/>
            </a:pPr>
            <a:r>
              <a:rPr lang="en-US" dirty="0"/>
              <a:t>+ long-run: changes in income usually come from Y</a:t>
            </a:r>
            <a:r>
              <a:rPr lang="en-US" baseline="30000" dirty="0"/>
              <a:t>P</a:t>
            </a:r>
            <a:r>
              <a:rPr lang="en-US" dirty="0"/>
              <a:t> therefore APC slightly constant when Y increases</a:t>
            </a:r>
          </a:p>
          <a:p>
            <a:pPr marL="0" indent="0">
              <a:buNone/>
            </a:pPr>
            <a:endParaRPr lang="en-US" dirty="0"/>
          </a:p>
        </p:txBody>
      </p:sp>
      <p:sp>
        <p:nvSpPr>
          <p:cNvPr id="4" name="Title 1"/>
          <p:cNvSpPr>
            <a:spLocks noGrp="1"/>
          </p:cNvSpPr>
          <p:nvPr>
            <p:ph type="title"/>
          </p:nvPr>
        </p:nvSpPr>
        <p:spPr/>
        <p:txBody>
          <a:bodyPr>
            <a:normAutofit fontScale="90000"/>
          </a:bodyPr>
          <a:lstStyle/>
          <a:p>
            <a:r>
              <a:rPr lang="en-US" dirty="0"/>
              <a:t>IV Milton Friedman and the Permanent – Income Hypothesis</a:t>
            </a:r>
          </a:p>
        </p:txBody>
      </p:sp>
    </p:spTree>
    <p:extLst>
      <p:ext uri="{BB962C8B-B14F-4D97-AF65-F5344CB8AC3E}">
        <p14:creationId xmlns:p14="http://schemas.microsoft.com/office/powerpoint/2010/main" val="36903390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457200"/>
            <a:ext cx="7772400" cy="731838"/>
          </a:xfrm>
        </p:spPr>
        <p:txBody>
          <a:bodyPr>
            <a:normAutofit fontScale="90000"/>
          </a:bodyPr>
          <a:lstStyle/>
          <a:p>
            <a:r>
              <a:rPr lang="en-US" dirty="0"/>
              <a:t>V Other modern consumption models</a:t>
            </a:r>
          </a:p>
        </p:txBody>
      </p:sp>
      <p:sp>
        <p:nvSpPr>
          <p:cNvPr id="3" name="Content Placeholder 2"/>
          <p:cNvSpPr>
            <a:spLocks noGrp="1"/>
          </p:cNvSpPr>
          <p:nvPr>
            <p:ph sz="quarter" idx="1"/>
          </p:nvPr>
        </p:nvSpPr>
        <p:spPr>
          <a:xfrm>
            <a:off x="381000" y="1447800"/>
            <a:ext cx="8458200" cy="4572000"/>
          </a:xfrm>
        </p:spPr>
        <p:txBody>
          <a:bodyPr>
            <a:normAutofit/>
          </a:bodyPr>
          <a:lstStyle/>
          <a:p>
            <a:pPr marL="0" indent="0">
              <a:buNone/>
            </a:pPr>
            <a:r>
              <a:rPr lang="en-US" b="1" u="sng" dirty="0"/>
              <a:t>Robert Hall and random walk hypothesis</a:t>
            </a:r>
          </a:p>
          <a:p>
            <a:pPr marL="0" indent="0">
              <a:buNone/>
            </a:pPr>
            <a:r>
              <a:rPr lang="en-US" altLang="en-US" dirty="0"/>
              <a:t>Robert Hall was first to derive the implications of rational expectations for consumption.  He showed that if the permanent income hypothesis is correct, and if consumers have rational expectations, then changes in consumption over time should be unpredictable. When changes in a variable are unpredictable, the variable is said to follow a </a:t>
            </a:r>
            <a:r>
              <a:rPr lang="en-US" altLang="en-US" b="1" i="1" dirty="0"/>
              <a:t>random walk.</a:t>
            </a:r>
          </a:p>
          <a:p>
            <a:pPr marL="0" indent="0">
              <a:buNone/>
            </a:pPr>
            <a:r>
              <a:rPr lang="en-US" altLang="en-US" dirty="0"/>
              <a:t>According to Hall, the combination of the permanent-income hypothesis and rational expectations implies that consumption follows a random walk.</a:t>
            </a:r>
          </a:p>
          <a:p>
            <a:pPr marL="0" indent="0">
              <a:buNone/>
            </a:pPr>
            <a:endParaRPr lang="en-US" dirty="0"/>
          </a:p>
        </p:txBody>
      </p:sp>
    </p:spTree>
    <p:extLst>
      <p:ext uri="{BB962C8B-B14F-4D97-AF65-F5344CB8AC3E}">
        <p14:creationId xmlns:p14="http://schemas.microsoft.com/office/powerpoint/2010/main" val="31898207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914400" y="1447800"/>
            <a:ext cx="7772400" cy="5029200"/>
          </a:xfrm>
        </p:spPr>
        <p:txBody>
          <a:bodyPr>
            <a:normAutofit/>
          </a:bodyPr>
          <a:lstStyle/>
          <a:p>
            <a:pPr marL="0" indent="0">
              <a:buNone/>
            </a:pPr>
            <a:r>
              <a:rPr lang="en-US" altLang="en-US" b="1" u="sng" dirty="0"/>
              <a:t>David </a:t>
            </a:r>
            <a:r>
              <a:rPr lang="en-US" altLang="en-US" b="1" u="sng" dirty="0" err="1"/>
              <a:t>Laibson</a:t>
            </a:r>
            <a:r>
              <a:rPr lang="en-US" altLang="en-US" b="1" u="sng" dirty="0"/>
              <a:t> and pull of instant gratification </a:t>
            </a:r>
          </a:p>
          <a:p>
            <a:pPr marL="0" indent="0">
              <a:buNone/>
            </a:pPr>
            <a:r>
              <a:rPr lang="en-US" altLang="en-US" dirty="0"/>
              <a:t>Recently, economists have turned to psychology for further explanations of consumer behavior.  They have suggested that consumption decisions are not made completely rationally. This new subfield infusing psychology into economics is called </a:t>
            </a:r>
            <a:r>
              <a:rPr lang="en-US" altLang="en-US" i="1" dirty="0"/>
              <a:t>behavior economics. </a:t>
            </a:r>
            <a:r>
              <a:rPr lang="en-US" altLang="en-US" dirty="0"/>
              <a:t>Harvard’s</a:t>
            </a:r>
            <a:r>
              <a:rPr lang="en-US" altLang="en-US" i="1" dirty="0"/>
              <a:t> </a:t>
            </a:r>
            <a:r>
              <a:rPr lang="en-US" altLang="en-US" dirty="0"/>
              <a:t>David </a:t>
            </a:r>
            <a:r>
              <a:rPr lang="en-US" altLang="en-US" dirty="0" err="1"/>
              <a:t>Laibson</a:t>
            </a:r>
            <a:r>
              <a:rPr lang="en-US" altLang="en-US" dirty="0"/>
              <a:t> notes that many consumers judge themselves to be  Imperfect decision makers.  Consumers’ preferences may be </a:t>
            </a:r>
            <a:r>
              <a:rPr lang="en-US" altLang="en-US" i="1" dirty="0"/>
              <a:t>time-</a:t>
            </a:r>
            <a:r>
              <a:rPr lang="en-US" altLang="en-US" dirty="0"/>
              <a:t> </a:t>
            </a:r>
            <a:r>
              <a:rPr lang="en-US" altLang="en-US" i="1" dirty="0"/>
              <a:t>inconsistent: </a:t>
            </a:r>
            <a:r>
              <a:rPr lang="en-US" altLang="en-US" dirty="0"/>
              <a:t>they may alter their decisions simply because time passes.</a:t>
            </a:r>
          </a:p>
          <a:p>
            <a:endParaRPr lang="en-US" dirty="0"/>
          </a:p>
        </p:txBody>
      </p:sp>
      <p:sp>
        <p:nvSpPr>
          <p:cNvPr id="4" name="Title 1"/>
          <p:cNvSpPr>
            <a:spLocks noGrp="1"/>
          </p:cNvSpPr>
          <p:nvPr>
            <p:ph type="title"/>
          </p:nvPr>
        </p:nvSpPr>
        <p:spPr/>
        <p:txBody>
          <a:bodyPr>
            <a:normAutofit fontScale="90000"/>
          </a:bodyPr>
          <a:lstStyle/>
          <a:p>
            <a:r>
              <a:rPr lang="en-US" dirty="0"/>
              <a:t>V Other modern consumption models</a:t>
            </a:r>
          </a:p>
        </p:txBody>
      </p:sp>
    </p:spTree>
    <p:extLst>
      <p:ext uri="{BB962C8B-B14F-4D97-AF65-F5344CB8AC3E}">
        <p14:creationId xmlns:p14="http://schemas.microsoft.com/office/powerpoint/2010/main" val="169538317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273</TotalTime>
  <Words>1745</Words>
  <Application>Microsoft Office PowerPoint</Application>
  <PresentationFormat>On-screen Show (4:3)</PresentationFormat>
  <Paragraphs>148</Paragraphs>
  <Slides>24</Slides>
  <Notes>0</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2</vt:i4>
      </vt:variant>
      <vt:variant>
        <vt:lpstr>Slide Titles</vt:lpstr>
      </vt:variant>
      <vt:variant>
        <vt:i4>24</vt:i4>
      </vt:variant>
    </vt:vector>
  </HeadingPairs>
  <TitlesOfParts>
    <vt:vector size="34" baseType="lpstr">
      <vt:lpstr>Calibri</vt:lpstr>
      <vt:lpstr>Cambria Math</vt:lpstr>
      <vt:lpstr>Corbel</vt:lpstr>
      <vt:lpstr>Franklin Gothic Book</vt:lpstr>
      <vt:lpstr>Perpetua</vt:lpstr>
      <vt:lpstr>Times New Roman</vt:lpstr>
      <vt:lpstr>Wingdings 2</vt:lpstr>
      <vt:lpstr>Equity</vt:lpstr>
      <vt:lpstr>Equation</vt:lpstr>
      <vt:lpstr>GALLERY Clipart</vt:lpstr>
      <vt:lpstr>Consumption</vt:lpstr>
      <vt:lpstr>Content</vt:lpstr>
      <vt:lpstr>I John Maynard Keynes and the consumption function</vt:lpstr>
      <vt:lpstr>I John Maynard Keynes and the consumption function</vt:lpstr>
      <vt:lpstr>I John Maynard Keynes and the consumption function</vt:lpstr>
      <vt:lpstr>I John Maynard Keynes and the consumption function</vt:lpstr>
      <vt:lpstr>I John Maynard Keynes and the consumption function</vt:lpstr>
      <vt:lpstr>II Irving Fisher and Inter-temporal choice</vt:lpstr>
      <vt:lpstr>II Irving Fisher and Inter-temporal choice</vt:lpstr>
      <vt:lpstr>II Irving Fisher and Inter-temporal choice</vt:lpstr>
      <vt:lpstr>II Irving Fisher and Inter-temporal choice</vt:lpstr>
      <vt:lpstr>II Irving Fisher and Inter-temporal choice</vt:lpstr>
      <vt:lpstr>II Irving Fisher and Inter-temporal choice</vt:lpstr>
      <vt:lpstr>II Irving Fisher and Inter-temporal choice</vt:lpstr>
      <vt:lpstr>II Irving Fisher and Inter-temporal choice</vt:lpstr>
      <vt:lpstr>II Irving Fisher and Inter-temporal choice</vt:lpstr>
      <vt:lpstr>III Franco Modigliani and the life – cycle hypothesis</vt:lpstr>
      <vt:lpstr>III Franco Modigliani and the life – cycle hypothesis</vt:lpstr>
      <vt:lpstr>III Franco Modigliani and the life – cycle hypothesis</vt:lpstr>
      <vt:lpstr>IV Milton Friedman and the Permanent – Income Hypothesis</vt:lpstr>
      <vt:lpstr>IV Milton Friedman and the Permanent – Income Hypothesis</vt:lpstr>
      <vt:lpstr>IV Milton Friedman and the Permanent – Income Hypothesis</vt:lpstr>
      <vt:lpstr>V Other modern consumption models</vt:lpstr>
      <vt:lpstr>V Other modern consumption models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Consumption</dc:title>
  <dc:creator>Truong</dc:creator>
  <cp:lastModifiedBy>Phạm Xuân Trường</cp:lastModifiedBy>
  <cp:revision>20</cp:revision>
  <dcterms:created xsi:type="dcterms:W3CDTF">2014-02-17T14:43:11Z</dcterms:created>
  <dcterms:modified xsi:type="dcterms:W3CDTF">2025-11-20T01:15:36Z</dcterms:modified>
</cp:coreProperties>
</file>