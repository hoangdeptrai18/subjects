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sldIdLst>
    <p:sldId id="256" r:id="rId2"/>
    <p:sldId id="257" r:id="rId3"/>
    <p:sldId id="261" r:id="rId4"/>
    <p:sldId id="258" r:id="rId5"/>
    <p:sldId id="262" r:id="rId6"/>
    <p:sldId id="263" r:id="rId7"/>
    <p:sldId id="259" r:id="rId8"/>
    <p:sldId id="265" r:id="rId9"/>
    <p:sldId id="266" r:id="rId10"/>
    <p:sldId id="279" r:id="rId11"/>
    <p:sldId id="280" r:id="rId12"/>
    <p:sldId id="281" r:id="rId13"/>
    <p:sldId id="282" r:id="rId14"/>
    <p:sldId id="283" r:id="rId15"/>
    <p:sldId id="284" r:id="rId16"/>
    <p:sldId id="269" r:id="rId17"/>
    <p:sldId id="270" r:id="rId18"/>
    <p:sldId id="271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C6BBA8-710F-4DF1-B7C4-A32E3C6D2568}" type="datetimeFigureOut">
              <a:rPr lang="en-US" smtClean="0"/>
              <a:t>2/22/2014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CFAE4B-3F10-4DC3-85AE-53D2070FAB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5196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FAE4B-3F10-4DC3-85AE-53D2070FABC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9633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5E372-961B-4C7F-81FB-C2C1BA80BE5C}" type="datetimeFigureOut">
              <a:rPr lang="en-US" smtClean="0"/>
              <a:t>2/22/2014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A69E03D5-EBAE-40BC-B5D0-3131BA4C5B77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5E372-961B-4C7F-81FB-C2C1BA80BE5C}" type="datetimeFigureOut">
              <a:rPr lang="en-US" smtClean="0"/>
              <a:t>2/22/2014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9E03D5-EBAE-40BC-B5D0-3131BA4C5B77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5E372-961B-4C7F-81FB-C2C1BA80BE5C}" type="datetimeFigureOut">
              <a:rPr lang="en-US" smtClean="0"/>
              <a:t>2/22/2014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A69E03D5-EBAE-40BC-B5D0-3131BA4C5B77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5E372-961B-4C7F-81FB-C2C1BA80BE5C}" type="datetimeFigureOut">
              <a:rPr lang="en-US" smtClean="0"/>
              <a:t>2/22/2014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9E03D5-EBAE-40BC-B5D0-3131BA4C5B77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5E372-961B-4C7F-81FB-C2C1BA80BE5C}" type="datetimeFigureOut">
              <a:rPr lang="en-US" smtClean="0"/>
              <a:t>2/22/2014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9E03D5-EBAE-40BC-B5D0-3131BA4C5B77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5E372-961B-4C7F-81FB-C2C1BA80BE5C}" type="datetimeFigureOut">
              <a:rPr lang="en-US" smtClean="0"/>
              <a:t>2/22/2014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9E03D5-EBAE-40BC-B5D0-3131BA4C5B7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5E372-961B-4C7F-81FB-C2C1BA80BE5C}" type="datetimeFigureOut">
              <a:rPr lang="en-US" smtClean="0"/>
              <a:t>2/22/2014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9E03D5-EBAE-40BC-B5D0-3131BA4C5B7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5E372-961B-4C7F-81FB-C2C1BA80BE5C}" type="datetimeFigureOut">
              <a:rPr lang="en-US" smtClean="0"/>
              <a:t>2/22/2014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9E03D5-EBAE-40BC-B5D0-3131BA4C5B77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5E372-961B-4C7F-81FB-C2C1BA80BE5C}" type="datetimeFigureOut">
              <a:rPr lang="en-US" smtClean="0"/>
              <a:t>2/22/2014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A69E03D5-EBAE-40BC-B5D0-3131BA4C5B77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5E372-961B-4C7F-81FB-C2C1BA80BE5C}" type="datetimeFigureOut">
              <a:rPr lang="en-US" smtClean="0"/>
              <a:t>2/22/2014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9E03D5-EBAE-40BC-B5D0-3131BA4C5B7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5E372-961B-4C7F-81FB-C2C1BA80BE5C}" type="datetimeFigureOut">
              <a:rPr lang="en-US" smtClean="0"/>
              <a:t>2/22/2014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9E03D5-EBAE-40BC-B5D0-3131BA4C5B7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1D05E372-961B-4C7F-81FB-C2C1BA80BE5C}" type="datetimeFigureOut">
              <a:rPr lang="en-US" smtClean="0"/>
              <a:t>2/22/2014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A69E03D5-EBAE-40BC-B5D0-3131BA4C5B77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3.w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7.wmf"/><Relationship Id="rId4" Type="http://schemas.openxmlformats.org/officeDocument/2006/relationships/oleObject" Target="../embeddings/oleObject4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7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7.wmf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pPr algn="l"/>
            <a:r>
              <a:rPr lang="en-US" i="1" dirty="0" smtClean="0"/>
              <a:t>Lecture 6</a:t>
            </a:r>
          </a:p>
          <a:p>
            <a:pPr algn="l"/>
            <a:endParaRPr lang="en-US" i="1" dirty="0"/>
          </a:p>
          <a:p>
            <a:pPr algn="l"/>
            <a:r>
              <a:rPr lang="en-US" i="1" dirty="0" smtClean="0"/>
              <a:t>Mentor: Pham Xuan Truong</a:t>
            </a:r>
          </a:p>
          <a:p>
            <a:pPr algn="l"/>
            <a:r>
              <a:rPr lang="en-US" i="1" dirty="0" smtClean="0"/>
              <a:t>(truongpx@ftu.edu.vn)</a:t>
            </a:r>
            <a:endParaRPr lang="en-US" i="1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Neoclassical theory of fixed investment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4180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1 Business fixed investment</a:t>
            </a:r>
          </a:p>
          <a:p>
            <a:pPr marL="0" indent="0">
              <a:buNone/>
            </a:pPr>
            <a:r>
              <a:rPr lang="en-US" dirty="0" smtClean="0"/>
              <a:t>2 Inventory investment</a:t>
            </a:r>
          </a:p>
          <a:p>
            <a:pPr marL="0" indent="0">
              <a:buNone/>
            </a:pPr>
            <a:r>
              <a:rPr lang="en-US" dirty="0" smtClean="0"/>
              <a:t>3 Residential investment</a:t>
            </a:r>
          </a:p>
        </p:txBody>
      </p:sp>
    </p:spTree>
    <p:extLst>
      <p:ext uri="{BB962C8B-B14F-4D97-AF65-F5344CB8AC3E}">
        <p14:creationId xmlns:p14="http://schemas.microsoft.com/office/powerpoint/2010/main" val="3040396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Three types of investment spending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US" altLang="en-US" b="1" i="1" dirty="0"/>
              <a:t> Business fixed investment </a:t>
            </a:r>
            <a:r>
              <a:rPr lang="en-US" altLang="en-US" dirty="0"/>
              <a:t>includes the equipment and structures that businesses buy to use in production.</a:t>
            </a:r>
          </a:p>
          <a:p>
            <a:pPr>
              <a:buFontTx/>
              <a:buChar char="•"/>
            </a:pPr>
            <a:endParaRPr lang="en-US" altLang="en-US" dirty="0"/>
          </a:p>
          <a:p>
            <a:pPr>
              <a:buFontTx/>
              <a:buChar char="•"/>
            </a:pPr>
            <a:r>
              <a:rPr lang="en-US" altLang="en-US" b="1" i="1" dirty="0"/>
              <a:t> Residential investment </a:t>
            </a:r>
            <a:r>
              <a:rPr lang="en-US" altLang="en-US" dirty="0"/>
              <a:t>includes the new housing that people buy to live in and that landlords buy to rent out.</a:t>
            </a:r>
          </a:p>
          <a:p>
            <a:pPr>
              <a:buFontTx/>
              <a:buChar char="•"/>
            </a:pPr>
            <a:endParaRPr lang="en-US" altLang="en-US" dirty="0"/>
          </a:p>
          <a:p>
            <a:pPr>
              <a:buFontTx/>
              <a:buChar char="•"/>
            </a:pPr>
            <a:r>
              <a:rPr lang="en-US" altLang="en-US" b="1" i="1" dirty="0"/>
              <a:t> Inventory investment </a:t>
            </a:r>
            <a:r>
              <a:rPr lang="en-US" altLang="en-US" dirty="0"/>
              <a:t>includes those goods that businesses put aside in storage, including materials and supplies, work in progress, and finished goods.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7164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 </a:t>
            </a:r>
            <a:r>
              <a:rPr lang="en-US" dirty="0"/>
              <a:t>Business fixed investment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80060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altLang="en-US" sz="3000" dirty="0"/>
              <a:t>The standard model of business fixed investment is called </a:t>
            </a:r>
            <a:r>
              <a:rPr lang="en-US" altLang="en-US" sz="3000" dirty="0" smtClean="0"/>
              <a:t>the </a:t>
            </a:r>
            <a:r>
              <a:rPr lang="en-US" altLang="en-US" sz="3000" b="1" i="1" dirty="0" smtClean="0"/>
              <a:t>neoclassical </a:t>
            </a:r>
            <a:r>
              <a:rPr lang="en-US" altLang="en-US" sz="3000" b="1" i="1" dirty="0"/>
              <a:t>model of investment.</a:t>
            </a:r>
            <a:r>
              <a:rPr lang="en-US" altLang="en-US" sz="3000" dirty="0"/>
              <a:t> It examines the </a:t>
            </a:r>
            <a:r>
              <a:rPr lang="en-US" altLang="en-US" sz="3000" dirty="0">
                <a:solidFill>
                  <a:schemeClr val="accent2"/>
                </a:solidFill>
              </a:rPr>
              <a:t>benefits</a:t>
            </a:r>
            <a:r>
              <a:rPr lang="en-US" altLang="en-US" sz="3000" dirty="0"/>
              <a:t> and </a:t>
            </a:r>
            <a:r>
              <a:rPr lang="en-US" altLang="en-US" sz="3000" dirty="0">
                <a:solidFill>
                  <a:srgbClr val="FF0000"/>
                </a:solidFill>
              </a:rPr>
              <a:t>costs</a:t>
            </a:r>
            <a:r>
              <a:rPr lang="en-US" altLang="en-US" sz="3000" dirty="0"/>
              <a:t> of owning capital goods. </a:t>
            </a:r>
            <a:r>
              <a:rPr lang="en-US" altLang="en-US" sz="3000" dirty="0" smtClean="0"/>
              <a:t>According to the model, three fundamental variables </a:t>
            </a:r>
            <a:r>
              <a:rPr lang="en-US" altLang="en-US" sz="3000" dirty="0"/>
              <a:t>that shift investment:</a:t>
            </a:r>
          </a:p>
          <a:p>
            <a:pPr marL="0" indent="0">
              <a:buNone/>
            </a:pPr>
            <a:r>
              <a:rPr lang="en-US" altLang="en-US" sz="3000" dirty="0" smtClean="0"/>
              <a:t>1</a:t>
            </a:r>
            <a:r>
              <a:rPr lang="en-US" altLang="en-US" sz="3000" dirty="0"/>
              <a:t>) the marginal product of capital</a:t>
            </a:r>
          </a:p>
          <a:p>
            <a:pPr marL="0" indent="0">
              <a:buNone/>
            </a:pPr>
            <a:r>
              <a:rPr lang="en-US" altLang="en-US" sz="3000" dirty="0" smtClean="0"/>
              <a:t>2</a:t>
            </a:r>
            <a:r>
              <a:rPr lang="en-US" altLang="en-US" sz="3000" dirty="0"/>
              <a:t>) the interest rate</a:t>
            </a:r>
          </a:p>
          <a:p>
            <a:pPr marL="0" indent="0">
              <a:buNone/>
            </a:pPr>
            <a:r>
              <a:rPr lang="en-US" altLang="en-US" sz="3000" dirty="0" smtClean="0"/>
              <a:t>3</a:t>
            </a:r>
            <a:r>
              <a:rPr lang="en-US" altLang="en-US" sz="3000" dirty="0"/>
              <a:t>) tax </a:t>
            </a:r>
            <a:r>
              <a:rPr lang="en-US" altLang="en-US" sz="3000" dirty="0" smtClean="0"/>
              <a:t>rules</a:t>
            </a:r>
          </a:p>
          <a:p>
            <a:pPr marL="0" indent="0">
              <a:buNone/>
            </a:pPr>
            <a:endParaRPr lang="en-US" altLang="en-US" sz="3000" dirty="0" smtClean="0"/>
          </a:p>
          <a:p>
            <a:pPr marL="0" indent="0">
              <a:buNone/>
            </a:pPr>
            <a:r>
              <a:rPr lang="en-US" altLang="en-US" sz="3000" dirty="0"/>
              <a:t>To develop the model, imagine that there are two kinds of firms: </a:t>
            </a:r>
            <a:r>
              <a:rPr lang="en-US" altLang="en-US" sz="3000" b="1" dirty="0"/>
              <a:t>production firms</a:t>
            </a:r>
            <a:r>
              <a:rPr lang="en-US" altLang="en-US" sz="3000" dirty="0"/>
              <a:t> that produce goods and services using the capital that they rent and </a:t>
            </a:r>
            <a:r>
              <a:rPr lang="en-US" altLang="en-US" sz="3000" b="1" dirty="0"/>
              <a:t>rental firms</a:t>
            </a:r>
            <a:r>
              <a:rPr lang="en-US" altLang="en-US" sz="3000" dirty="0"/>
              <a:t> that make all the investments in the economy</a:t>
            </a:r>
            <a:endParaRPr lang="en-US" sz="3000" dirty="0"/>
          </a:p>
          <a:p>
            <a:pPr marL="0" indent="0">
              <a:buNone/>
            </a:pPr>
            <a:r>
              <a:rPr lang="en-US" altLang="en-US" dirty="0" smtClean="0"/>
              <a:t> </a:t>
            </a:r>
            <a:endParaRPr lang="en-US" alt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1485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u="sng" dirty="0" smtClean="0"/>
              <a:t>How production firms decide hiring capital</a:t>
            </a:r>
          </a:p>
          <a:p>
            <a:pPr marL="0" indent="0">
              <a:buNone/>
            </a:pPr>
            <a:r>
              <a:rPr lang="en-US" sz="2800" dirty="0" smtClean="0"/>
              <a:t>Production firms base on benefit and cost to decide capital deployment</a:t>
            </a:r>
          </a:p>
          <a:p>
            <a:pPr marL="0" indent="0">
              <a:buNone/>
            </a:pPr>
            <a:r>
              <a:rPr lang="en-US" sz="2800" dirty="0"/>
              <a:t>+</a:t>
            </a:r>
            <a:r>
              <a:rPr lang="en-US" sz="2800" dirty="0" smtClean="0"/>
              <a:t> Real benefit of hiring one unit of capital: R/P (R is the price of hiring one unit of capital, P is price level)</a:t>
            </a:r>
          </a:p>
          <a:p>
            <a:pPr marL="0" indent="0">
              <a:buNone/>
            </a:pPr>
            <a:r>
              <a:rPr lang="en-US" sz="2800" dirty="0" smtClean="0"/>
              <a:t>+ Real cost of hiring one unit of capital: MPK</a:t>
            </a:r>
          </a:p>
          <a:p>
            <a:pPr marL="0" indent="0">
              <a:buNone/>
            </a:pPr>
            <a:r>
              <a:rPr lang="en-US" sz="2800" dirty="0" smtClean="0"/>
              <a:t>To maximize interest, rental firms will hire the number of capital so that R/P = MPK, which also defines the demand curve of hiring capital</a:t>
            </a:r>
            <a:endParaRPr lang="en-US" sz="2800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914400" y="152400"/>
            <a:ext cx="7772400" cy="1143000"/>
          </a:xfrm>
        </p:spPr>
        <p:txBody>
          <a:bodyPr/>
          <a:lstStyle/>
          <a:p>
            <a:r>
              <a:rPr lang="en-US" dirty="0" smtClean="0"/>
              <a:t>I </a:t>
            </a:r>
            <a:r>
              <a:rPr lang="en-US" dirty="0"/>
              <a:t>Business fixed investment</a:t>
            </a:r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1490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143000"/>
            <a:ext cx="7772400" cy="51816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b="1" u="sng" dirty="0"/>
              <a:t>How </a:t>
            </a:r>
            <a:r>
              <a:rPr lang="en-US" sz="2400" b="1" u="sng" dirty="0" smtClean="0"/>
              <a:t>production </a:t>
            </a:r>
            <a:r>
              <a:rPr lang="en-US" sz="2400" b="1" u="sng" dirty="0"/>
              <a:t>firms decide hiring </a:t>
            </a:r>
            <a:r>
              <a:rPr lang="en-US" sz="2400" b="1" u="sng" dirty="0" smtClean="0"/>
              <a:t>capital</a:t>
            </a:r>
          </a:p>
          <a:p>
            <a:pPr marL="0" indent="0">
              <a:buNone/>
            </a:pPr>
            <a:endParaRPr lang="en-US" sz="2400" b="1" u="sng" dirty="0"/>
          </a:p>
          <a:p>
            <a:pPr marL="0" indent="0">
              <a:buNone/>
            </a:pPr>
            <a:endParaRPr lang="en-US" sz="2400" b="1" u="sng" dirty="0" smtClean="0"/>
          </a:p>
          <a:p>
            <a:pPr marL="0" indent="0">
              <a:buNone/>
            </a:pPr>
            <a:endParaRPr lang="en-US" sz="2400" b="1" u="sng" dirty="0"/>
          </a:p>
          <a:p>
            <a:pPr marL="0" indent="0">
              <a:buNone/>
            </a:pPr>
            <a:endParaRPr lang="en-US" sz="2400" b="1" u="sng" dirty="0" smtClean="0"/>
          </a:p>
          <a:p>
            <a:pPr marL="0" indent="0">
              <a:buNone/>
            </a:pPr>
            <a:endParaRPr lang="en-US" sz="2400" b="1" u="sng" dirty="0"/>
          </a:p>
          <a:p>
            <a:pPr marL="0" indent="0">
              <a:buNone/>
            </a:pPr>
            <a:endParaRPr lang="en-US" sz="2400" b="1" u="sng" dirty="0" smtClean="0"/>
          </a:p>
          <a:p>
            <a:pPr marL="0" indent="0">
              <a:buNone/>
            </a:pPr>
            <a:endParaRPr lang="en-US" sz="2400" b="1" u="sng" dirty="0"/>
          </a:p>
          <a:p>
            <a:pPr marL="0" indent="0">
              <a:buNone/>
            </a:pPr>
            <a:endParaRPr lang="en-US" sz="2400" b="1" u="sng" dirty="0" smtClean="0"/>
          </a:p>
          <a:p>
            <a:pPr marL="0" indent="0">
              <a:buNone/>
            </a:pPr>
            <a:r>
              <a:rPr lang="en-US" sz="2400" dirty="0" smtClean="0"/>
              <a:t>+ Capital demand is downward sloping curve (low K corresponding with high R)</a:t>
            </a:r>
          </a:p>
          <a:p>
            <a:pPr marL="0" indent="0">
              <a:buNone/>
            </a:pPr>
            <a:r>
              <a:rPr lang="en-US" sz="2400" dirty="0" smtClean="0"/>
              <a:t>+  Capital supply is vertical curve, which implies supply of capital does not depend on rental price</a:t>
            </a:r>
            <a:endParaRPr lang="en-US" sz="2400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914400" y="152400"/>
            <a:ext cx="7772400" cy="884238"/>
          </a:xfrm>
        </p:spPr>
        <p:txBody>
          <a:bodyPr/>
          <a:lstStyle/>
          <a:p>
            <a:r>
              <a:rPr lang="en-US" dirty="0" smtClean="0"/>
              <a:t>I </a:t>
            </a:r>
            <a:r>
              <a:rPr lang="en-US" dirty="0"/>
              <a:t>Business fixed investment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5" name="Picture 4"/>
          <p:cNvPicPr/>
          <p:nvPr/>
        </p:nvPicPr>
        <p:blipFill>
          <a:blip r:embed="rId2" cstate="print"/>
          <a:srcRect t="7407"/>
          <a:stretch>
            <a:fillRect/>
          </a:stretch>
        </p:blipFill>
        <p:spPr bwMode="auto">
          <a:xfrm>
            <a:off x="1691680" y="1524000"/>
            <a:ext cx="5616624" cy="32129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281737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09600" y="852054"/>
            <a:ext cx="8063346" cy="5624946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3600" b="1" u="sng" dirty="0"/>
              <a:t>How </a:t>
            </a:r>
            <a:r>
              <a:rPr lang="en-US" sz="3600" b="1" u="sng" dirty="0" err="1" smtClean="0"/>
              <a:t>prodcution</a:t>
            </a:r>
            <a:r>
              <a:rPr lang="en-US" sz="3600" b="1" u="sng" dirty="0" smtClean="0"/>
              <a:t> </a:t>
            </a:r>
            <a:r>
              <a:rPr lang="en-US" sz="3600" b="1" u="sng" dirty="0"/>
              <a:t>firms decide hiring capital</a:t>
            </a:r>
          </a:p>
          <a:p>
            <a:pPr marL="0" indent="0">
              <a:buNone/>
            </a:pPr>
            <a:r>
              <a:rPr lang="en-US" sz="3600" dirty="0" smtClean="0"/>
              <a:t>Apply this behavior of production firms in the case of Cobb - Douglas production function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endParaRPr lang="en-US" sz="3200" dirty="0" smtClean="0">
              <a:cs typeface="Times New Roman"/>
            </a:endParaRPr>
          </a:p>
          <a:p>
            <a:pPr marL="0" indent="0">
              <a:buNone/>
            </a:pPr>
            <a:r>
              <a:rPr lang="en-US" sz="3200" dirty="0" smtClean="0">
                <a:cs typeface="Times New Roman"/>
              </a:rPr>
              <a:t>→</a:t>
            </a:r>
            <a:endParaRPr lang="en-US" sz="3200" dirty="0"/>
          </a:p>
          <a:p>
            <a:pPr marL="0" indent="0">
              <a:buNone/>
            </a:pPr>
            <a:r>
              <a:rPr lang="en-US" altLang="en-US" sz="3200" dirty="0" smtClean="0"/>
              <a:t>This </a:t>
            </a:r>
            <a:r>
              <a:rPr lang="en-US" altLang="en-US" sz="3200" dirty="0"/>
              <a:t>expression identifies the variables that determine the real rental price. It shows the following:</a:t>
            </a:r>
          </a:p>
          <a:p>
            <a:pPr marL="0" indent="0">
              <a:buNone/>
            </a:pPr>
            <a:r>
              <a:rPr lang="en-US" altLang="en-US" sz="3200" dirty="0" smtClean="0"/>
              <a:t>- the </a:t>
            </a:r>
            <a:r>
              <a:rPr lang="en-US" altLang="en-US" sz="3200" b="1" dirty="0"/>
              <a:t>lower</a:t>
            </a:r>
            <a:r>
              <a:rPr lang="en-US" altLang="en-US" sz="3200" dirty="0"/>
              <a:t> the stock of </a:t>
            </a:r>
            <a:r>
              <a:rPr lang="en-US" altLang="en-US" sz="3200" dirty="0" smtClean="0"/>
              <a:t>capital (K), </a:t>
            </a:r>
            <a:r>
              <a:rPr lang="en-US" altLang="en-US" sz="3200" dirty="0"/>
              <a:t>the </a:t>
            </a:r>
            <a:r>
              <a:rPr lang="en-US" altLang="en-US" sz="3200" b="1" dirty="0"/>
              <a:t>higher</a:t>
            </a:r>
            <a:r>
              <a:rPr lang="en-US" altLang="en-US" sz="3200" dirty="0"/>
              <a:t> the real rental price of capital</a:t>
            </a:r>
          </a:p>
          <a:p>
            <a:pPr marL="0" indent="0">
              <a:buNone/>
            </a:pPr>
            <a:r>
              <a:rPr lang="en-US" altLang="en-US" sz="3200" dirty="0" smtClean="0"/>
              <a:t>- the </a:t>
            </a:r>
            <a:r>
              <a:rPr lang="en-US" altLang="en-US" sz="3200" b="1" dirty="0"/>
              <a:t>greater</a:t>
            </a:r>
            <a:r>
              <a:rPr lang="en-US" altLang="en-US" sz="3200" dirty="0"/>
              <a:t> the amount of labor </a:t>
            </a:r>
            <a:r>
              <a:rPr lang="en-US" altLang="en-US" sz="3200" dirty="0" smtClean="0"/>
              <a:t>employed (L) , </a:t>
            </a:r>
            <a:r>
              <a:rPr lang="en-US" altLang="en-US" sz="3200" dirty="0"/>
              <a:t>the </a:t>
            </a:r>
            <a:r>
              <a:rPr lang="en-US" altLang="en-US" sz="3200" b="1" dirty="0"/>
              <a:t>higher</a:t>
            </a:r>
            <a:r>
              <a:rPr lang="en-US" altLang="en-US" sz="3200" dirty="0"/>
              <a:t> the real rental price of capitals</a:t>
            </a:r>
          </a:p>
          <a:p>
            <a:pPr marL="0" indent="0">
              <a:buNone/>
            </a:pPr>
            <a:r>
              <a:rPr lang="en-US" altLang="en-US" sz="3200" dirty="0" smtClean="0"/>
              <a:t>- the </a:t>
            </a:r>
            <a:r>
              <a:rPr lang="en-US" altLang="en-US" sz="3200" b="1" dirty="0"/>
              <a:t>better</a:t>
            </a:r>
            <a:r>
              <a:rPr lang="en-US" altLang="en-US" sz="3200" dirty="0"/>
              <a:t> the </a:t>
            </a:r>
            <a:r>
              <a:rPr lang="en-US" altLang="en-US" sz="3200" dirty="0" smtClean="0"/>
              <a:t>technology (A), </a:t>
            </a:r>
            <a:r>
              <a:rPr lang="en-US" altLang="en-US" sz="3200" dirty="0"/>
              <a:t>the </a:t>
            </a:r>
            <a:r>
              <a:rPr lang="en-US" altLang="en-US" sz="3200" b="1" dirty="0"/>
              <a:t>higher</a:t>
            </a:r>
            <a:r>
              <a:rPr lang="en-US" altLang="en-US" sz="3200" dirty="0"/>
              <a:t> the real rental price of capital.</a:t>
            </a:r>
          </a:p>
          <a:p>
            <a:pPr marL="0" indent="0">
              <a:buNone/>
            </a:pPr>
            <a:endParaRPr lang="en-US" sz="3200" dirty="0" smtClean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1848042"/>
              </p:ext>
            </p:extLst>
          </p:nvPr>
        </p:nvGraphicFramePr>
        <p:xfrm>
          <a:off x="5985160" y="1648690"/>
          <a:ext cx="1752600" cy="3982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1" name="Equation" r:id="rId3" imgW="838200" imgH="190500" progId="Equation.3">
                  <p:embed/>
                </p:oleObj>
              </mc:Choice>
              <mc:Fallback>
                <p:oleObj name="Equation" r:id="rId3" imgW="838200" imgH="1905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85160" y="1648690"/>
                        <a:ext cx="1752600" cy="39825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7656478"/>
              </p:ext>
            </p:extLst>
          </p:nvPr>
        </p:nvGraphicFramePr>
        <p:xfrm>
          <a:off x="1461655" y="2230595"/>
          <a:ext cx="5486400" cy="4821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2" name="Equation" r:id="rId5" imgW="2235200" imgH="228600" progId="Equation.3">
                  <p:embed/>
                </p:oleObj>
              </mc:Choice>
              <mc:Fallback>
                <p:oleObj name="Equation" r:id="rId5" imgW="2235200" imgH="228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1655" y="2230595"/>
                        <a:ext cx="5486400" cy="48217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942322"/>
              </p:ext>
            </p:extLst>
          </p:nvPr>
        </p:nvGraphicFramePr>
        <p:xfrm>
          <a:off x="1447800" y="2819400"/>
          <a:ext cx="3219450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3" name="Equation" r:id="rId7" imgW="1257300" imgH="228600" progId="Equation.3">
                  <p:embed/>
                </p:oleObj>
              </mc:Choice>
              <mc:Fallback>
                <p:oleObj name="Equation" r:id="rId7" imgW="1257300" imgH="228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2819400"/>
                        <a:ext cx="3219450" cy="50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914400" y="-14288"/>
            <a:ext cx="7772400" cy="868363"/>
          </a:xfrm>
        </p:spPr>
        <p:txBody>
          <a:bodyPr/>
          <a:lstStyle/>
          <a:p>
            <a:r>
              <a:rPr lang="en-US" dirty="0" smtClean="0"/>
              <a:t>I </a:t>
            </a:r>
            <a:r>
              <a:rPr lang="en-US" dirty="0"/>
              <a:t>Business fixed investment</a:t>
            </a:r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6358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u="sng" dirty="0"/>
              <a:t>How </a:t>
            </a:r>
            <a:r>
              <a:rPr lang="en-US" sz="2800" b="1" u="sng" dirty="0" smtClean="0"/>
              <a:t>rental </a:t>
            </a:r>
            <a:r>
              <a:rPr lang="en-US" sz="2800" b="1" u="sng" dirty="0"/>
              <a:t>firms decide </a:t>
            </a:r>
            <a:r>
              <a:rPr lang="en-US" sz="2800" b="1" u="sng" dirty="0" smtClean="0"/>
              <a:t>owning capital</a:t>
            </a:r>
            <a:endParaRPr lang="en-US" sz="2800" b="1" u="sng" dirty="0"/>
          </a:p>
          <a:p>
            <a:pPr marL="0" indent="0">
              <a:buNone/>
            </a:pPr>
            <a:r>
              <a:rPr lang="en-US" dirty="0" smtClean="0"/>
              <a:t>Rental f</a:t>
            </a:r>
            <a:r>
              <a:rPr lang="en-US" sz="2400" dirty="0" smtClean="0"/>
              <a:t>irms </a:t>
            </a:r>
            <a:r>
              <a:rPr lang="en-US" sz="2400" dirty="0"/>
              <a:t>base on benefit and cost </a:t>
            </a:r>
            <a:r>
              <a:rPr lang="en-US" sz="2400" dirty="0" smtClean="0"/>
              <a:t>to rent capital</a:t>
            </a:r>
          </a:p>
          <a:p>
            <a:pPr marL="0" indent="0">
              <a:buNone/>
            </a:pPr>
            <a:r>
              <a:rPr lang="en-US" sz="2400" dirty="0" smtClean="0"/>
              <a:t>+ Benefit: rental price paid by production firms R/P (MPK)</a:t>
            </a:r>
          </a:p>
          <a:p>
            <a:pPr marL="0" indent="0">
              <a:buNone/>
            </a:pPr>
            <a:r>
              <a:rPr lang="en-US" sz="2400" dirty="0" smtClean="0"/>
              <a:t>+ Cost: there are three type of costs incurred by rental firms</a:t>
            </a:r>
          </a:p>
          <a:p>
            <a:pPr marL="0" indent="0">
              <a:buNone/>
            </a:pPr>
            <a:r>
              <a:rPr lang="en-US" altLang="en-US" sz="2400" dirty="0"/>
              <a:t>	</a:t>
            </a:r>
            <a:r>
              <a:rPr lang="en-US" altLang="en-US" dirty="0" smtClean="0"/>
              <a:t>1</a:t>
            </a:r>
            <a:r>
              <a:rPr lang="en-US" altLang="en-US" dirty="0"/>
              <a:t>) Interest on their loans, which equals the purchase price of a unit </a:t>
            </a:r>
            <a:r>
              <a:rPr lang="en-US" altLang="en-US" dirty="0" smtClean="0"/>
              <a:t>of capital </a:t>
            </a:r>
            <a:r>
              <a:rPr lang="en-US" altLang="en-US" i="1" dirty="0"/>
              <a:t>P</a:t>
            </a:r>
            <a:r>
              <a:rPr lang="en-US" altLang="en-US" baseline="-25000" dirty="0"/>
              <a:t>K</a:t>
            </a:r>
            <a:r>
              <a:rPr lang="en-US" altLang="en-US" dirty="0"/>
              <a:t> times the interest rate, </a:t>
            </a:r>
            <a:r>
              <a:rPr lang="en-US" altLang="en-US" i="1" dirty="0" err="1">
                <a:latin typeface="Monotype Corsiva" pitchFamily="66" charset="0"/>
              </a:rPr>
              <a:t>i</a:t>
            </a:r>
            <a:r>
              <a:rPr lang="en-US" altLang="en-US" i="1" dirty="0"/>
              <a:t>,</a:t>
            </a:r>
            <a:r>
              <a:rPr lang="en-US" altLang="en-US" dirty="0"/>
              <a:t> so </a:t>
            </a:r>
            <a:r>
              <a:rPr lang="en-US" altLang="en-US" i="1" dirty="0" err="1">
                <a:latin typeface="Monotype Corsiva" pitchFamily="66" charset="0"/>
              </a:rPr>
              <a:t>i</a:t>
            </a:r>
            <a:r>
              <a:rPr lang="en-US" altLang="en-US" i="1" dirty="0">
                <a:latin typeface="Monotype Corsiva" pitchFamily="66" charset="0"/>
              </a:rPr>
              <a:t> </a:t>
            </a:r>
            <a:r>
              <a:rPr lang="en-US" altLang="en-US" i="1" dirty="0" smtClean="0"/>
              <a:t>P</a:t>
            </a:r>
            <a:r>
              <a:rPr lang="en-US" altLang="en-US" baseline="-25000" dirty="0" smtClean="0"/>
              <a:t>K</a:t>
            </a:r>
            <a:r>
              <a:rPr lang="en-US" altLang="en-US" dirty="0" smtClean="0"/>
              <a:t>.</a:t>
            </a:r>
          </a:p>
          <a:p>
            <a:pPr marL="0" indent="0">
              <a:buNone/>
            </a:pPr>
            <a:r>
              <a:rPr lang="en-US" altLang="en-US" dirty="0"/>
              <a:t>	</a:t>
            </a:r>
            <a:r>
              <a:rPr lang="en-US" altLang="en-US" dirty="0" smtClean="0"/>
              <a:t>2</a:t>
            </a:r>
            <a:r>
              <a:rPr lang="en-US" altLang="en-US" dirty="0"/>
              <a:t>) The cost of the loss or gain on the price of capital denoted as -</a:t>
            </a:r>
            <a:r>
              <a:rPr lang="en-US" altLang="en-US" i="1" dirty="0">
                <a:latin typeface="Symbol" pitchFamily="18" charset="2"/>
              </a:rPr>
              <a:t>D</a:t>
            </a:r>
            <a:r>
              <a:rPr lang="en-US" altLang="en-US" i="1" dirty="0"/>
              <a:t>P</a:t>
            </a:r>
            <a:r>
              <a:rPr lang="en-US" altLang="en-US" baseline="-25000" dirty="0"/>
              <a:t>K </a:t>
            </a:r>
            <a:r>
              <a:rPr lang="en-US" altLang="en-US" dirty="0" smtClean="0"/>
              <a:t>.</a:t>
            </a:r>
          </a:p>
          <a:p>
            <a:pPr marL="0" indent="0">
              <a:buNone/>
            </a:pPr>
            <a:r>
              <a:rPr lang="en-US" altLang="en-US" dirty="0"/>
              <a:t>	</a:t>
            </a:r>
            <a:r>
              <a:rPr lang="en-US" altLang="en-US" dirty="0" smtClean="0"/>
              <a:t>3</a:t>
            </a:r>
            <a:r>
              <a:rPr lang="en-US" altLang="en-US" dirty="0"/>
              <a:t>) </a:t>
            </a:r>
            <a:r>
              <a:rPr lang="en-US" altLang="en-US" b="1" i="1" dirty="0"/>
              <a:t>Depreciation</a:t>
            </a:r>
            <a:r>
              <a:rPr lang="en-US" altLang="en-US" dirty="0"/>
              <a:t> </a:t>
            </a:r>
            <a:r>
              <a:rPr lang="en-US" altLang="en-US" i="1" dirty="0">
                <a:latin typeface="Symbol" pitchFamily="18" charset="2"/>
              </a:rPr>
              <a:t>d</a:t>
            </a:r>
            <a:r>
              <a:rPr lang="en-US" altLang="en-US" dirty="0"/>
              <a:t> defined as the fraction of value lost per period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 </a:t>
            </a:r>
            <a:r>
              <a:rPr lang="en-US" dirty="0"/>
              <a:t>Business fixed investment</a:t>
            </a:r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9414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762000"/>
            <a:ext cx="8305800" cy="4724400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10400" b="1" u="sng" dirty="0"/>
              <a:t>How rental firms decide owning capital</a:t>
            </a:r>
          </a:p>
          <a:p>
            <a:pPr marL="0" indent="0">
              <a:buNone/>
            </a:pPr>
            <a:r>
              <a:rPr lang="en-US" sz="10400" dirty="0" smtClean="0"/>
              <a:t>Nominal total cost of rental firms =  </a:t>
            </a:r>
            <a:r>
              <a:rPr lang="en-US" altLang="en-US" sz="10400" i="1" dirty="0" err="1">
                <a:latin typeface="Monotype Corsiva" pitchFamily="66" charset="0"/>
              </a:rPr>
              <a:t>i</a:t>
            </a:r>
            <a:r>
              <a:rPr lang="en-US" altLang="en-US" sz="10400" i="1" dirty="0"/>
              <a:t> P</a:t>
            </a:r>
            <a:r>
              <a:rPr lang="en-US" altLang="en-US" sz="10400" baseline="-25000" dirty="0"/>
              <a:t>K </a:t>
            </a:r>
            <a:r>
              <a:rPr lang="en-US" altLang="en-US" sz="10400" dirty="0"/>
              <a:t>- </a:t>
            </a:r>
            <a:r>
              <a:rPr lang="en-US" altLang="en-US" sz="10400" i="1" dirty="0">
                <a:latin typeface="Symbol" pitchFamily="18" charset="2"/>
              </a:rPr>
              <a:t>D</a:t>
            </a:r>
            <a:r>
              <a:rPr lang="en-US" altLang="en-US" sz="10400" i="1" dirty="0"/>
              <a:t>P</a:t>
            </a:r>
            <a:r>
              <a:rPr lang="en-US" altLang="en-US" sz="10400" baseline="-25000" dirty="0"/>
              <a:t>K </a:t>
            </a:r>
            <a:r>
              <a:rPr lang="en-US" altLang="en-US" sz="10400" dirty="0" smtClean="0"/>
              <a:t>+</a:t>
            </a:r>
            <a:r>
              <a:rPr lang="en-US" altLang="en-US" sz="10400" i="1" dirty="0" smtClean="0"/>
              <a:t> </a:t>
            </a:r>
            <a:r>
              <a:rPr lang="en-US" altLang="en-US" sz="10400" i="1" dirty="0" err="1" smtClean="0">
                <a:latin typeface="Symbol" pitchFamily="18" charset="2"/>
              </a:rPr>
              <a:t>d</a:t>
            </a:r>
            <a:r>
              <a:rPr lang="en-US" altLang="en-US" sz="10400" i="1" dirty="0" err="1" smtClean="0"/>
              <a:t>P</a:t>
            </a:r>
            <a:r>
              <a:rPr lang="en-US" altLang="en-US" sz="10400" baseline="-25000" dirty="0" err="1" smtClean="0"/>
              <a:t>K</a:t>
            </a:r>
            <a:r>
              <a:rPr lang="en-US" altLang="en-US" sz="10400" baseline="-25000" dirty="0" smtClean="0"/>
              <a:t> </a:t>
            </a:r>
            <a:r>
              <a:rPr lang="en-US" altLang="en-US" sz="10400" dirty="0" smtClean="0"/>
              <a:t>or</a:t>
            </a:r>
            <a:r>
              <a:rPr lang="en-US" altLang="en-US" sz="10400" dirty="0"/>
              <a:t> </a:t>
            </a:r>
            <a:endParaRPr lang="en-US" altLang="en-US" sz="10400" dirty="0" smtClean="0"/>
          </a:p>
          <a:p>
            <a:pPr marL="0" indent="0">
              <a:buNone/>
            </a:pPr>
            <a:r>
              <a:rPr lang="en-US" altLang="en-US" sz="10400" dirty="0" smtClean="0"/>
              <a:t>P</a:t>
            </a:r>
            <a:r>
              <a:rPr lang="en-US" altLang="en-US" sz="10400" baseline="-25000" dirty="0" smtClean="0"/>
              <a:t>K </a:t>
            </a:r>
            <a:r>
              <a:rPr lang="en-US" altLang="en-US" sz="10400" i="1" dirty="0"/>
              <a:t>(</a:t>
            </a:r>
            <a:r>
              <a:rPr lang="en-US" altLang="en-US" sz="10400" i="1" dirty="0" err="1">
                <a:latin typeface="Monotype Corsiva" pitchFamily="66" charset="0"/>
              </a:rPr>
              <a:t>i</a:t>
            </a:r>
            <a:r>
              <a:rPr lang="en-US" altLang="en-US" sz="10400" i="1" dirty="0"/>
              <a:t> - </a:t>
            </a:r>
            <a:r>
              <a:rPr lang="en-US" altLang="en-US" sz="10400" i="1" dirty="0">
                <a:latin typeface="Symbol" pitchFamily="18" charset="2"/>
              </a:rPr>
              <a:t>D</a:t>
            </a:r>
            <a:r>
              <a:rPr lang="en-US" altLang="en-US" sz="10400" i="1" dirty="0"/>
              <a:t> P</a:t>
            </a:r>
            <a:r>
              <a:rPr lang="en-US" altLang="en-US" sz="10400" baseline="-25000" dirty="0"/>
              <a:t>K</a:t>
            </a:r>
            <a:r>
              <a:rPr lang="en-US" altLang="en-US" sz="10400" dirty="0"/>
              <a:t>/</a:t>
            </a:r>
            <a:r>
              <a:rPr lang="en-US" altLang="en-US" sz="10400" baseline="-25000" dirty="0"/>
              <a:t> </a:t>
            </a:r>
            <a:r>
              <a:rPr lang="en-US" altLang="en-US" sz="10400" i="1" dirty="0"/>
              <a:t>P</a:t>
            </a:r>
            <a:r>
              <a:rPr lang="en-US" altLang="en-US" sz="10400" baseline="-25000" dirty="0"/>
              <a:t>K </a:t>
            </a:r>
            <a:r>
              <a:rPr lang="en-US" altLang="en-US" sz="10400" dirty="0"/>
              <a:t>+ </a:t>
            </a:r>
            <a:r>
              <a:rPr lang="en-US" altLang="en-US" sz="10400" dirty="0" smtClean="0">
                <a:latin typeface="Symbol" pitchFamily="18" charset="2"/>
              </a:rPr>
              <a:t>d</a:t>
            </a:r>
            <a:r>
              <a:rPr lang="en-US" altLang="en-US" sz="10400" dirty="0" smtClean="0"/>
              <a:t>)</a:t>
            </a:r>
          </a:p>
          <a:p>
            <a:pPr marL="0" indent="0">
              <a:buNone/>
            </a:pPr>
            <a:endParaRPr lang="en-US" altLang="en-US" sz="10400" dirty="0" smtClean="0"/>
          </a:p>
          <a:p>
            <a:pPr marL="0" indent="0">
              <a:buNone/>
            </a:pPr>
            <a:r>
              <a:rPr lang="en-US" altLang="en-US" sz="10400" dirty="0" smtClean="0"/>
              <a:t>Real total cost of rental firms = (P</a:t>
            </a:r>
            <a:r>
              <a:rPr lang="en-US" altLang="en-US" sz="10400" baseline="-25000" dirty="0" smtClean="0"/>
              <a:t>K </a:t>
            </a:r>
            <a:r>
              <a:rPr lang="en-US" altLang="en-US" sz="10400" dirty="0" smtClean="0"/>
              <a:t>/P)</a:t>
            </a:r>
            <a:r>
              <a:rPr lang="en-US" altLang="en-US" sz="10400" i="1" dirty="0" smtClean="0"/>
              <a:t>(</a:t>
            </a:r>
            <a:r>
              <a:rPr lang="en-US" altLang="en-US" sz="10400" i="1" dirty="0" err="1" smtClean="0">
                <a:latin typeface="Monotype Corsiva" pitchFamily="66" charset="0"/>
              </a:rPr>
              <a:t>i</a:t>
            </a:r>
            <a:r>
              <a:rPr lang="en-US" altLang="en-US" sz="10400" i="1" dirty="0" smtClean="0"/>
              <a:t> </a:t>
            </a:r>
            <a:r>
              <a:rPr lang="en-US" altLang="en-US" sz="10400" i="1" dirty="0"/>
              <a:t>- </a:t>
            </a:r>
            <a:r>
              <a:rPr lang="en-US" altLang="en-US" sz="10400" i="1" dirty="0">
                <a:latin typeface="Symbol" pitchFamily="18" charset="2"/>
              </a:rPr>
              <a:t>D</a:t>
            </a:r>
            <a:r>
              <a:rPr lang="en-US" altLang="en-US" sz="10400" i="1" dirty="0"/>
              <a:t> P</a:t>
            </a:r>
            <a:r>
              <a:rPr lang="en-US" altLang="en-US" sz="10400" baseline="-25000" dirty="0"/>
              <a:t>K</a:t>
            </a:r>
            <a:r>
              <a:rPr lang="en-US" altLang="en-US" sz="10400" dirty="0"/>
              <a:t>/</a:t>
            </a:r>
            <a:r>
              <a:rPr lang="en-US" altLang="en-US" sz="10400" baseline="-25000" dirty="0"/>
              <a:t> </a:t>
            </a:r>
            <a:r>
              <a:rPr lang="en-US" altLang="en-US" sz="10400" i="1" dirty="0"/>
              <a:t>P</a:t>
            </a:r>
            <a:r>
              <a:rPr lang="en-US" altLang="en-US" sz="10400" baseline="-25000" dirty="0"/>
              <a:t>K </a:t>
            </a:r>
            <a:r>
              <a:rPr lang="en-US" altLang="en-US" sz="10400" dirty="0"/>
              <a:t>+ </a:t>
            </a:r>
            <a:r>
              <a:rPr lang="en-US" altLang="en-US" sz="10400" dirty="0">
                <a:latin typeface="Symbol" pitchFamily="18" charset="2"/>
              </a:rPr>
              <a:t>d</a:t>
            </a:r>
            <a:r>
              <a:rPr lang="en-US" altLang="en-US" sz="10400" dirty="0"/>
              <a:t>) </a:t>
            </a:r>
            <a:endParaRPr lang="en-US" altLang="en-US" sz="10400" dirty="0" smtClean="0"/>
          </a:p>
          <a:p>
            <a:pPr marL="0" indent="0">
              <a:buNone/>
            </a:pPr>
            <a:endParaRPr lang="en-US" altLang="en-US" sz="10400" dirty="0" smtClean="0"/>
          </a:p>
          <a:p>
            <a:pPr marL="0" indent="0">
              <a:buNone/>
            </a:pPr>
            <a:r>
              <a:rPr lang="en-US" altLang="en-US" sz="10400" dirty="0" smtClean="0"/>
              <a:t>Assuming that P</a:t>
            </a:r>
            <a:r>
              <a:rPr lang="en-US" altLang="en-US" sz="10400" baseline="-25000" dirty="0" smtClean="0"/>
              <a:t>K </a:t>
            </a:r>
            <a:r>
              <a:rPr lang="en-US" altLang="en-US" sz="10400" dirty="0" smtClean="0"/>
              <a:t>= P, therefore real cost = r + </a:t>
            </a:r>
            <a:r>
              <a:rPr lang="en-US" altLang="en-US" sz="10400" dirty="0" smtClean="0">
                <a:latin typeface="Symbol" pitchFamily="18" charset="2"/>
              </a:rPr>
              <a:t>d</a:t>
            </a:r>
          </a:p>
          <a:p>
            <a:pPr marL="0" indent="0">
              <a:buNone/>
            </a:pPr>
            <a:r>
              <a:rPr lang="en-US" sz="10400" dirty="0" smtClean="0">
                <a:cs typeface="Times New Roman"/>
              </a:rPr>
              <a:t>→ real profit of rental firms = R/P – (</a:t>
            </a:r>
            <a:r>
              <a:rPr lang="en-US" altLang="en-US" sz="10400" dirty="0"/>
              <a:t>r + </a:t>
            </a:r>
            <a:r>
              <a:rPr lang="en-US" altLang="en-US" sz="10400" dirty="0" smtClean="0">
                <a:latin typeface="Symbol" pitchFamily="18" charset="2"/>
              </a:rPr>
              <a:t>d) = </a:t>
            </a:r>
            <a:r>
              <a:rPr lang="en-US" altLang="en-US" sz="10400" dirty="0" smtClean="0"/>
              <a:t>MPK </a:t>
            </a:r>
            <a:r>
              <a:rPr lang="en-US" sz="10400" dirty="0">
                <a:cs typeface="Times New Roman"/>
              </a:rPr>
              <a:t>– (</a:t>
            </a:r>
            <a:r>
              <a:rPr lang="en-US" altLang="en-US" sz="10400" dirty="0"/>
              <a:t>r + </a:t>
            </a:r>
            <a:r>
              <a:rPr lang="en-US" altLang="en-US" sz="10400" dirty="0">
                <a:latin typeface="Symbol" pitchFamily="18" charset="2"/>
              </a:rPr>
              <a:t>d) </a:t>
            </a:r>
            <a:endParaRPr lang="en-US" altLang="en-US" sz="10400" dirty="0" smtClean="0">
              <a:latin typeface="Symbol" pitchFamily="18" charset="2"/>
            </a:endParaRPr>
          </a:p>
          <a:p>
            <a:pPr marL="0" indent="0">
              <a:buNone/>
            </a:pPr>
            <a:endParaRPr lang="en-US" altLang="en-US" sz="10400" dirty="0" smtClean="0"/>
          </a:p>
          <a:p>
            <a:pPr marL="0" indent="0">
              <a:buNone/>
            </a:pPr>
            <a:r>
              <a:rPr lang="en-US" altLang="en-US" sz="10400" dirty="0" smtClean="0"/>
              <a:t>The number of new capital desirable to be invested by rental firms is the function of real profit </a:t>
            </a:r>
            <a:r>
              <a:rPr lang="en-US" sz="10400" dirty="0"/>
              <a:t>∆K = In[MPK  - (r + δ</a:t>
            </a:r>
            <a:r>
              <a:rPr lang="en-US" sz="10400" dirty="0" smtClean="0"/>
              <a:t>)]</a:t>
            </a:r>
          </a:p>
          <a:p>
            <a:pPr marL="0" indent="0">
              <a:buNone/>
            </a:pPr>
            <a:r>
              <a:rPr lang="en-US" sz="10400" dirty="0" smtClean="0"/>
              <a:t>Hence the function of total of capital desirable to be invested is</a:t>
            </a:r>
          </a:p>
          <a:p>
            <a:pPr marL="0" indent="0" algn="ctr">
              <a:buNone/>
            </a:pPr>
            <a:r>
              <a:rPr lang="en-US" sz="10400" dirty="0"/>
              <a:t>I  = In[MPK  - (r + δ)] + </a:t>
            </a:r>
            <a:r>
              <a:rPr lang="en-US" sz="10400" dirty="0" err="1" smtClean="0"/>
              <a:t>δK</a:t>
            </a:r>
            <a:endParaRPr lang="en-US" sz="10400" dirty="0" smtClean="0"/>
          </a:p>
          <a:p>
            <a:pPr marL="0" indent="0" algn="ctr">
              <a:buNone/>
            </a:pPr>
            <a:r>
              <a:rPr lang="en-US" sz="10400" b="1" dirty="0" smtClean="0"/>
              <a:t>This function explain the negative relationship between investment and interest rate</a:t>
            </a:r>
            <a:endParaRPr lang="en-US" sz="10400" b="1" dirty="0"/>
          </a:p>
          <a:p>
            <a:pPr marL="0" indent="0">
              <a:buNone/>
            </a:pPr>
            <a:endParaRPr lang="en-US" alt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r>
              <a:rPr lang="en-US" altLang="en-US" dirty="0" smtClean="0"/>
              <a:t> </a:t>
            </a:r>
            <a:endParaRPr lang="en-US" alt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792162"/>
          </a:xfrm>
        </p:spPr>
        <p:txBody>
          <a:bodyPr>
            <a:normAutofit/>
          </a:bodyPr>
          <a:lstStyle/>
          <a:p>
            <a:r>
              <a:rPr lang="en-US" dirty="0" smtClean="0"/>
              <a:t>I </a:t>
            </a:r>
            <a:r>
              <a:rPr lang="en-US" dirty="0"/>
              <a:t>Business fixed investment</a:t>
            </a:r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2998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0"/>
            <a:ext cx="7772400" cy="1143000"/>
          </a:xfrm>
        </p:spPr>
        <p:txBody>
          <a:bodyPr/>
          <a:lstStyle/>
          <a:p>
            <a:r>
              <a:rPr lang="en-US" dirty="0" smtClean="0"/>
              <a:t>II Inventory investment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US" sz="2800" b="1" u="sng" dirty="0" smtClean="0"/>
              <a:t>What is inventory investment</a:t>
            </a:r>
          </a:p>
          <a:p>
            <a:pPr marL="0" indent="0">
              <a:buNone/>
            </a:pPr>
            <a:r>
              <a:rPr lang="en-US" altLang="en-US" sz="2800" dirty="0" smtClean="0"/>
              <a:t>Inventory </a:t>
            </a:r>
            <a:r>
              <a:rPr lang="en-US" altLang="en-US" sz="2800" dirty="0"/>
              <a:t>investment, the goods that businesses put aside in storage, is at the same time negligible and of great significance. It is one of the smallest components of spending</a:t>
            </a:r>
            <a:r>
              <a:rPr lang="en-US" altLang="en-US" sz="2800" dirty="0">
                <a:latin typeface=""/>
              </a:rPr>
              <a:t>—</a:t>
            </a:r>
            <a:r>
              <a:rPr lang="en-US" altLang="en-US" sz="2800" dirty="0"/>
              <a:t>but its volatility makes it critical in the study of economic fluctuations</a:t>
            </a:r>
            <a:r>
              <a:rPr lang="en-US" altLang="en-US" sz="2400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8" descr="PUSHBOX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1793" y="4267200"/>
            <a:ext cx="3095625" cy="2105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80842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95400"/>
            <a:ext cx="8077200" cy="5105400"/>
          </a:xfrm>
        </p:spPr>
        <p:txBody>
          <a:bodyPr/>
          <a:lstStyle/>
          <a:p>
            <a:pPr marL="0" indent="0">
              <a:buNone/>
            </a:pPr>
            <a:r>
              <a:rPr lang="en-US" b="1" u="sng" dirty="0" smtClean="0"/>
              <a:t>Why firm needs inventory investment </a:t>
            </a:r>
            <a:r>
              <a:rPr lang="en-US" b="1" dirty="0" smtClean="0"/>
              <a:t>(3 reasons)</a:t>
            </a:r>
            <a:endParaRPr lang="en-US" b="1" u="sng" dirty="0" smtClean="0"/>
          </a:p>
          <a:p>
            <a:pPr marL="0" indent="0">
              <a:buNone/>
            </a:pPr>
            <a:r>
              <a:rPr lang="en-US" altLang="en-US" sz="2800" dirty="0" smtClean="0"/>
              <a:t>When </a:t>
            </a:r>
            <a:r>
              <a:rPr lang="en-US" altLang="en-US" sz="2800" dirty="0"/>
              <a:t>sales are high, the firm produces less that it sells and it takes the goods out of inventory. This is called </a:t>
            </a:r>
            <a:r>
              <a:rPr lang="en-US" altLang="en-US" sz="2800" b="1" i="1" dirty="0"/>
              <a:t>production smoothing. </a:t>
            </a:r>
            <a:r>
              <a:rPr lang="en-US" altLang="en-US" sz="2800" dirty="0"/>
              <a:t>Holding inventory may allow firms to operate more efficiently. Thus, we can view </a:t>
            </a:r>
            <a:r>
              <a:rPr lang="en-US" altLang="en-US" sz="2800" b="1" i="1" dirty="0"/>
              <a:t>inventories as a factor of production. </a:t>
            </a:r>
            <a:r>
              <a:rPr lang="en-US" altLang="en-US" sz="2800" dirty="0"/>
              <a:t>Also, firms don’t want to run out of goods when sales are unexpectedly high. This is called </a:t>
            </a:r>
            <a:r>
              <a:rPr lang="en-US" altLang="en-US" sz="2800" b="1" i="1" dirty="0"/>
              <a:t>stock-out avoidance. </a:t>
            </a:r>
            <a:r>
              <a:rPr lang="en-US" altLang="en-US" sz="2800" dirty="0"/>
              <a:t>Lastly, if a product is only partially completed, the components are still counted in inventory, and are called, </a:t>
            </a:r>
            <a:r>
              <a:rPr lang="en-US" altLang="en-US" sz="2800" b="1" i="1" dirty="0"/>
              <a:t>work in process.</a:t>
            </a:r>
            <a:endParaRPr lang="en-US" altLang="en-US" sz="2800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7772400" cy="1143000"/>
          </a:xfrm>
        </p:spPr>
        <p:txBody>
          <a:bodyPr/>
          <a:lstStyle/>
          <a:p>
            <a:r>
              <a:rPr lang="en-US" dirty="0" smtClean="0"/>
              <a:t>II Inventory investment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1360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u="sng" dirty="0" smtClean="0"/>
              <a:t>Factors affect inventory investment</a:t>
            </a:r>
          </a:p>
          <a:p>
            <a:pPr marL="0" indent="0">
              <a:buNone/>
            </a:pPr>
            <a:r>
              <a:rPr lang="en-US" altLang="en-US" sz="2800" dirty="0" smtClean="0"/>
              <a:t>The </a:t>
            </a:r>
            <a:r>
              <a:rPr lang="en-US" altLang="en-US" sz="2800" b="1" i="1" dirty="0"/>
              <a:t>accelerator model</a:t>
            </a:r>
            <a:r>
              <a:rPr lang="en-US" altLang="en-US" sz="2800" dirty="0"/>
              <a:t> </a:t>
            </a:r>
            <a:r>
              <a:rPr lang="en-US" altLang="en-US" sz="2800" dirty="0" smtClean="0"/>
              <a:t>of inventory investment assumes </a:t>
            </a:r>
            <a:r>
              <a:rPr lang="en-US" altLang="en-US" sz="2800" dirty="0"/>
              <a:t>that firms hold a stock </a:t>
            </a:r>
            <a:r>
              <a:rPr lang="en-US" altLang="en-US" sz="2800" dirty="0" smtClean="0"/>
              <a:t>of inventories </a:t>
            </a:r>
            <a:r>
              <a:rPr lang="en-US" altLang="en-US" sz="2800" dirty="0"/>
              <a:t>that is proportional to the firm’s level of output. Thus, </a:t>
            </a:r>
            <a:r>
              <a:rPr lang="en-US" altLang="en-US" sz="2800" dirty="0" smtClean="0"/>
              <a:t>if </a:t>
            </a:r>
            <a:r>
              <a:rPr lang="en-US" altLang="en-US" sz="2800" i="1" dirty="0" smtClean="0"/>
              <a:t>N</a:t>
            </a:r>
            <a:r>
              <a:rPr lang="en-US" altLang="en-US" sz="2800" dirty="0" smtClean="0"/>
              <a:t> </a:t>
            </a:r>
            <a:r>
              <a:rPr lang="en-US" altLang="en-US" sz="2800" dirty="0"/>
              <a:t>is the economy’s stock of inventories and </a:t>
            </a:r>
            <a:r>
              <a:rPr lang="en-US" altLang="en-US" sz="2800" i="1" dirty="0"/>
              <a:t>Y</a:t>
            </a:r>
            <a:r>
              <a:rPr lang="en-US" altLang="en-US" sz="2800" dirty="0"/>
              <a:t> is output, then</a:t>
            </a:r>
          </a:p>
          <a:p>
            <a:pPr marL="0" indent="0">
              <a:buNone/>
            </a:pPr>
            <a:r>
              <a:rPr lang="en-US" altLang="en-US" sz="2800" dirty="0"/>
              <a:t>				</a:t>
            </a:r>
            <a:r>
              <a:rPr lang="en-US" altLang="en-US" sz="2800" i="1" dirty="0"/>
              <a:t>N = </a:t>
            </a:r>
            <a:r>
              <a:rPr lang="en-US" altLang="en-US" sz="2800" i="1" dirty="0">
                <a:latin typeface="Symbol" pitchFamily="18" charset="2"/>
              </a:rPr>
              <a:t>b</a:t>
            </a:r>
            <a:r>
              <a:rPr lang="en-US" altLang="en-US" sz="2800" i="1" dirty="0"/>
              <a:t> Y</a:t>
            </a:r>
          </a:p>
          <a:p>
            <a:pPr marL="0" indent="0">
              <a:buNone/>
            </a:pPr>
            <a:r>
              <a:rPr lang="en-US" altLang="en-US" sz="2800" dirty="0"/>
              <a:t>where </a:t>
            </a:r>
            <a:r>
              <a:rPr lang="en-US" altLang="en-US" sz="2800" i="1" dirty="0">
                <a:latin typeface="Symbol" pitchFamily="18" charset="2"/>
              </a:rPr>
              <a:t>b</a:t>
            </a:r>
            <a:r>
              <a:rPr lang="en-US" altLang="en-US" sz="2800" dirty="0"/>
              <a:t> is a parameter reflecting how much inventory firms wish to </a:t>
            </a:r>
            <a:r>
              <a:rPr lang="en-US" altLang="en-US" sz="2800" dirty="0" smtClean="0"/>
              <a:t> hold </a:t>
            </a:r>
            <a:r>
              <a:rPr lang="en-US" altLang="en-US" sz="2800" dirty="0"/>
              <a:t>as a proportion of output. Inventory investment </a:t>
            </a:r>
            <a:r>
              <a:rPr lang="en-US" altLang="en-US" sz="2800" i="1" dirty="0"/>
              <a:t>I</a:t>
            </a:r>
            <a:r>
              <a:rPr lang="en-US" altLang="en-US" sz="2800" dirty="0"/>
              <a:t> is the change in </a:t>
            </a:r>
            <a:r>
              <a:rPr lang="en-US" altLang="en-US" sz="2800" dirty="0" smtClean="0"/>
              <a:t> the </a:t>
            </a:r>
            <a:r>
              <a:rPr lang="en-US" altLang="en-US" sz="2800" dirty="0"/>
              <a:t>stock of inventories </a:t>
            </a:r>
            <a:r>
              <a:rPr lang="en-US" altLang="en-US" sz="2800" i="1" dirty="0">
                <a:latin typeface="Symbol" pitchFamily="18" charset="2"/>
              </a:rPr>
              <a:t>D</a:t>
            </a:r>
            <a:r>
              <a:rPr lang="en-US" altLang="en-US" sz="2800" i="1" dirty="0"/>
              <a:t>N.</a:t>
            </a:r>
            <a:r>
              <a:rPr lang="en-US" altLang="en-US" sz="2800" dirty="0"/>
              <a:t> Therefore,  </a:t>
            </a:r>
            <a:r>
              <a:rPr lang="en-US" altLang="en-US" sz="2800" i="1" dirty="0"/>
              <a:t>I = </a:t>
            </a:r>
            <a:r>
              <a:rPr lang="en-US" altLang="en-US" sz="2800" i="1" dirty="0">
                <a:latin typeface="Symbol" pitchFamily="18" charset="2"/>
              </a:rPr>
              <a:t>D</a:t>
            </a:r>
            <a:r>
              <a:rPr lang="en-US" altLang="en-US" sz="2800" i="1" dirty="0"/>
              <a:t>N = </a:t>
            </a:r>
            <a:r>
              <a:rPr lang="en-US" altLang="en-US" sz="2800" i="1" dirty="0">
                <a:latin typeface="Symbol" pitchFamily="18" charset="2"/>
              </a:rPr>
              <a:t>b D</a:t>
            </a:r>
            <a:r>
              <a:rPr lang="en-US" altLang="en-US" sz="2800" i="1" dirty="0"/>
              <a:t>Y.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II Inventory investment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71588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533400" y="1295400"/>
            <a:ext cx="8305800" cy="5257800"/>
          </a:xfrm>
        </p:spPr>
        <p:txBody>
          <a:bodyPr>
            <a:normAutofit/>
          </a:bodyPr>
          <a:lstStyle/>
          <a:p>
            <a:pPr marL="0" indent="0">
              <a:spcBef>
                <a:spcPct val="50000"/>
              </a:spcBef>
              <a:buNone/>
            </a:pPr>
            <a:r>
              <a:rPr lang="en-US" sz="2800" b="1" u="sng" dirty="0"/>
              <a:t>Factors affect inventory investment</a:t>
            </a:r>
          </a:p>
          <a:p>
            <a:pPr marL="0" indent="0">
              <a:spcBef>
                <a:spcPct val="50000"/>
              </a:spcBef>
              <a:buNone/>
            </a:pPr>
            <a:r>
              <a:rPr lang="en-US" altLang="en-US" sz="2800" dirty="0" smtClean="0"/>
              <a:t>The </a:t>
            </a:r>
            <a:r>
              <a:rPr lang="en-US" altLang="en-US" sz="2800" dirty="0"/>
              <a:t>accelerator model predicts that inventory investment is proportional to the change in output. 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sz="2800" dirty="0"/>
              <a:t> When output rises, firms want to hold a larger stock of inventory, so inventory investment is high. 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sz="2800" dirty="0"/>
              <a:t> When output falls, firms want to hold a smaller stock of inventory, so they allow their inventory to run down, and inventory investment is negative. </a:t>
            </a:r>
          </a:p>
          <a:p>
            <a:pPr marL="0" indent="0">
              <a:spcBef>
                <a:spcPct val="50000"/>
              </a:spcBef>
              <a:buNone/>
            </a:pPr>
            <a:r>
              <a:rPr lang="en-US" altLang="en-US" sz="2800" dirty="0"/>
              <a:t>The model says that inventory investment depends on whether the economy is speeding up or slowing </a:t>
            </a:r>
            <a:r>
              <a:rPr lang="en-US" altLang="en-US" sz="2800" dirty="0" smtClean="0"/>
              <a:t>down </a:t>
            </a:r>
            <a:r>
              <a:rPr lang="en-US" altLang="en-US" sz="2800" b="1" dirty="0" smtClean="0"/>
              <a:t>(Y)</a:t>
            </a:r>
            <a:endParaRPr lang="en-US" altLang="en-US" sz="2800" b="1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914400" y="-27709"/>
            <a:ext cx="7772400" cy="1143000"/>
          </a:xfrm>
        </p:spPr>
        <p:txBody>
          <a:bodyPr/>
          <a:lstStyle/>
          <a:p>
            <a:r>
              <a:rPr lang="en-US" dirty="0" smtClean="0"/>
              <a:t>II Inventory investment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30927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b="1" u="sng" dirty="0"/>
              <a:t>Factors affect inventory </a:t>
            </a:r>
            <a:r>
              <a:rPr lang="en-US" sz="2800" b="1" u="sng" dirty="0" smtClean="0"/>
              <a:t>investment</a:t>
            </a:r>
            <a:endParaRPr lang="en-US" altLang="en-US" sz="2800" dirty="0" smtClean="0"/>
          </a:p>
          <a:p>
            <a:r>
              <a:rPr lang="en-US" altLang="en-US" sz="2800" dirty="0" smtClean="0"/>
              <a:t>Like </a:t>
            </a:r>
            <a:r>
              <a:rPr lang="en-US" altLang="en-US" sz="2800" dirty="0"/>
              <a:t>other components of investment, inventory investment </a:t>
            </a:r>
            <a:r>
              <a:rPr lang="en-US" altLang="en-US" sz="2800" dirty="0" smtClean="0"/>
              <a:t>depends on </a:t>
            </a:r>
            <a:r>
              <a:rPr lang="en-US" altLang="en-US" sz="2800" dirty="0"/>
              <a:t>the real interest rate. When a firm holds a good in inventory and </a:t>
            </a:r>
            <a:r>
              <a:rPr lang="en-US" altLang="en-US" sz="2800" dirty="0" smtClean="0"/>
              <a:t> sells </a:t>
            </a:r>
            <a:r>
              <a:rPr lang="en-US" altLang="en-US" sz="2800" dirty="0"/>
              <a:t>it tomorrow rather than selling it today, it gives up the interest </a:t>
            </a:r>
            <a:r>
              <a:rPr lang="en-US" altLang="en-US" sz="2800" dirty="0" smtClean="0"/>
              <a:t>it could </a:t>
            </a:r>
            <a:r>
              <a:rPr lang="en-US" altLang="en-US" sz="2800" dirty="0"/>
              <a:t>have earned between today and tomorrow. Thus, the real </a:t>
            </a:r>
            <a:r>
              <a:rPr lang="en-US" altLang="en-US" sz="2800" dirty="0" smtClean="0"/>
              <a:t> interest </a:t>
            </a:r>
            <a:r>
              <a:rPr lang="en-US" altLang="en-US" sz="2800" dirty="0"/>
              <a:t>rate measures the opportunity cost of holding inventories.</a:t>
            </a:r>
          </a:p>
          <a:p>
            <a:endParaRPr lang="en-US" altLang="en-US" sz="2800" dirty="0"/>
          </a:p>
          <a:p>
            <a:r>
              <a:rPr lang="en-US" altLang="en-US" sz="2800" dirty="0"/>
              <a:t>When the interest rate rises, holding inventories becomes </a:t>
            </a:r>
            <a:r>
              <a:rPr lang="en-US" altLang="en-US" sz="2800" dirty="0" smtClean="0"/>
              <a:t>more costly</a:t>
            </a:r>
            <a:r>
              <a:rPr lang="en-US" altLang="en-US" sz="2800" dirty="0"/>
              <a:t>, so rational firms try to reduce their stock. Therefore, an </a:t>
            </a:r>
            <a:r>
              <a:rPr lang="en-US" altLang="en-US" sz="2800" dirty="0" smtClean="0"/>
              <a:t> increase </a:t>
            </a:r>
            <a:r>
              <a:rPr lang="en-US" altLang="en-US" sz="2800" dirty="0"/>
              <a:t>in the real interest rate depresses inventory </a:t>
            </a:r>
            <a:r>
              <a:rPr lang="en-US" altLang="en-US" sz="2800" dirty="0" smtClean="0"/>
              <a:t>investment </a:t>
            </a:r>
            <a:r>
              <a:rPr lang="en-US" altLang="en-US" sz="2800" b="1" dirty="0" smtClean="0"/>
              <a:t>(r)</a:t>
            </a:r>
            <a:endParaRPr lang="en-US" altLang="en-US" sz="2800" b="1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II Inventory investment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69439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304800"/>
            <a:ext cx="7772400" cy="1143000"/>
          </a:xfrm>
        </p:spPr>
        <p:txBody>
          <a:bodyPr/>
          <a:lstStyle/>
          <a:p>
            <a:r>
              <a:rPr lang="en-US" dirty="0" smtClean="0"/>
              <a:t>III Residential investment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838200"/>
            <a:ext cx="8229600" cy="5486400"/>
          </a:xfrm>
        </p:spPr>
        <p:txBody>
          <a:bodyPr>
            <a:normAutofit/>
          </a:bodyPr>
          <a:lstStyle/>
          <a:p>
            <a:r>
              <a:rPr lang="en-US" altLang="en-US" sz="2800" dirty="0"/>
              <a:t>We will now consider the determinants of residential investment by looking at a simple model of the housing market. Residential investment includes the purchase of new housing both by people who plan to live </a:t>
            </a:r>
            <a:r>
              <a:rPr lang="en-US" altLang="en-US" sz="2800" dirty="0" smtClean="0"/>
              <a:t>in it </a:t>
            </a:r>
            <a:r>
              <a:rPr lang="en-US" altLang="en-US" sz="2800" dirty="0"/>
              <a:t>themselves and by landlords who plan to rent it to others. </a:t>
            </a:r>
          </a:p>
          <a:p>
            <a:pPr>
              <a:spcBef>
                <a:spcPct val="50000"/>
              </a:spcBef>
            </a:pPr>
            <a:r>
              <a:rPr lang="en-US" altLang="en-US" sz="2800" dirty="0"/>
              <a:t>There are two parts to the model:                                                              </a:t>
            </a:r>
          </a:p>
          <a:p>
            <a:pPr marL="0" indent="0">
              <a:spcBef>
                <a:spcPct val="50000"/>
              </a:spcBef>
              <a:buNone/>
            </a:pPr>
            <a:r>
              <a:rPr lang="en-US" altLang="en-US" sz="2800" dirty="0" smtClean="0"/>
              <a:t>1) the </a:t>
            </a:r>
            <a:r>
              <a:rPr lang="en-US" altLang="en-US" sz="2800" dirty="0"/>
              <a:t>market for the existing stock of houses </a:t>
            </a:r>
            <a:endParaRPr lang="en-US" altLang="en-US" sz="2800" dirty="0" smtClean="0"/>
          </a:p>
          <a:p>
            <a:pPr marL="0" indent="0">
              <a:spcBef>
                <a:spcPct val="50000"/>
              </a:spcBef>
              <a:buNone/>
            </a:pPr>
            <a:r>
              <a:rPr lang="en-US" altLang="en-US" sz="2800" dirty="0" smtClean="0"/>
              <a:t>determines </a:t>
            </a:r>
            <a:r>
              <a:rPr lang="en-US" altLang="en-US" sz="2800" dirty="0"/>
              <a:t>the equilibrium housing price</a:t>
            </a:r>
          </a:p>
          <a:p>
            <a:pPr marL="0" indent="0">
              <a:spcBef>
                <a:spcPct val="50000"/>
              </a:spcBef>
              <a:buNone/>
            </a:pPr>
            <a:r>
              <a:rPr lang="en-US" altLang="en-US" sz="2800" dirty="0"/>
              <a:t>2) the housing price determines the flow of residential investment.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Object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73027904"/>
              </p:ext>
            </p:extLst>
          </p:nvPr>
        </p:nvGraphicFramePr>
        <p:xfrm>
          <a:off x="6102930" y="2590805"/>
          <a:ext cx="2641600" cy="205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7" name="ClipArt" r:id="rId4" imgW="1343856" imgH="1586199" progId="MS_ClipArt_Gallery.2">
                  <p:embed/>
                </p:oleObj>
              </mc:Choice>
              <mc:Fallback>
                <p:oleObj name="ClipArt" r:id="rId4" imgW="1343856" imgH="1586199" progId="MS_ClipArt_Gallery.2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02930" y="2590805"/>
                        <a:ext cx="2641600" cy="2054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>
                        <a:outerShdw dist="107763" dir="2700000" algn="ctr" rotWithShape="0">
                          <a:schemeClr val="bg2"/>
                        </a:outerShdw>
                      </a:effectLst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700799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373" name="Object 37"/>
          <p:cNvGraphicFramePr>
            <a:graphicFrameLocks/>
          </p:cNvGraphicFramePr>
          <p:nvPr/>
        </p:nvGraphicFramePr>
        <p:xfrm>
          <a:off x="965200" y="533400"/>
          <a:ext cx="7213600" cy="561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ClipArt" r:id="rId3" imgW="1749240" imgH="1180800" progId="MS_ClipArt_Gallery.2">
                  <p:embed/>
                </p:oleObj>
              </mc:Choice>
              <mc:Fallback>
                <p:oleObj name="ClipArt" r:id="rId3" imgW="1749240" imgH="1180800" progId="MS_ClipArt_Gallery.2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lum bright="70000" contrast="-7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5200" y="533400"/>
                        <a:ext cx="7213600" cy="561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>
                        <a:outerShdw dist="107763" dir="2700000" algn="ctr" rotWithShape="0">
                          <a:schemeClr val="bg2"/>
                        </a:outerShdw>
                      </a:effectLst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71" name="Line 35"/>
          <p:cNvSpPr>
            <a:spLocks noChangeShapeType="1"/>
          </p:cNvSpPr>
          <p:nvPr/>
        </p:nvSpPr>
        <p:spPr bwMode="auto">
          <a:xfrm flipV="1">
            <a:off x="5410200" y="3657600"/>
            <a:ext cx="1905000" cy="1752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68" name="Line 32"/>
          <p:cNvSpPr>
            <a:spLocks noChangeShapeType="1"/>
          </p:cNvSpPr>
          <p:nvPr/>
        </p:nvSpPr>
        <p:spPr bwMode="auto">
          <a:xfrm>
            <a:off x="1828800" y="3657600"/>
            <a:ext cx="0" cy="1981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38" name="WordArt 2"/>
          <p:cNvSpPr>
            <a:spLocks noChangeArrowheads="1" noChangeShapeType="1" noTextEdit="1"/>
          </p:cNvSpPr>
          <p:nvPr/>
        </p:nvSpPr>
        <p:spPr bwMode="auto">
          <a:xfrm>
            <a:off x="304800" y="304800"/>
            <a:ext cx="8610600" cy="762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endParaRPr lang="en-US" sz="3600" kern="10" dirty="0">
              <a:ln w="9525">
                <a:solidFill>
                  <a:schemeClr val="tx1"/>
                </a:solidFill>
                <a:round/>
                <a:headEnd/>
                <a:tailEnd/>
              </a:ln>
              <a:solidFill>
                <a:srgbClr val="993366"/>
              </a:solidFill>
              <a:effectLst>
                <a:outerShdw dist="35921" dir="2700000" algn="ctr" rotWithShape="0">
                  <a:srgbClr val="C0C0C0"/>
                </a:outerShdw>
              </a:effectLst>
              <a:latin typeface="Century Gothic"/>
            </a:endParaRPr>
          </a:p>
        </p:txBody>
      </p:sp>
      <p:sp>
        <p:nvSpPr>
          <p:cNvPr id="14341" name="Line 5"/>
          <p:cNvSpPr>
            <a:spLocks noChangeShapeType="1"/>
          </p:cNvSpPr>
          <p:nvPr/>
        </p:nvSpPr>
        <p:spPr bwMode="auto">
          <a:xfrm rot="5400000">
            <a:off x="6388100" y="4543425"/>
            <a:ext cx="0" cy="2286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342" name="Line 6"/>
          <p:cNvSpPr>
            <a:spLocks noChangeShapeType="1"/>
          </p:cNvSpPr>
          <p:nvPr/>
        </p:nvSpPr>
        <p:spPr bwMode="auto">
          <a:xfrm>
            <a:off x="5245100" y="3400425"/>
            <a:ext cx="0" cy="2286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343" name="Oval 7"/>
          <p:cNvSpPr>
            <a:spLocks noChangeArrowheads="1"/>
          </p:cNvSpPr>
          <p:nvPr/>
        </p:nvSpPr>
        <p:spPr bwMode="auto">
          <a:xfrm>
            <a:off x="6311900" y="4495800"/>
            <a:ext cx="76200" cy="762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345" name="Line 9"/>
          <p:cNvSpPr>
            <a:spLocks noChangeShapeType="1"/>
          </p:cNvSpPr>
          <p:nvPr/>
        </p:nvSpPr>
        <p:spPr bwMode="auto">
          <a:xfrm rot="5400000">
            <a:off x="2217738" y="4530725"/>
            <a:ext cx="0" cy="2286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346" name="Line 10"/>
          <p:cNvSpPr>
            <a:spLocks noChangeShapeType="1"/>
          </p:cNvSpPr>
          <p:nvPr/>
        </p:nvSpPr>
        <p:spPr bwMode="auto">
          <a:xfrm>
            <a:off x="1074738" y="3387725"/>
            <a:ext cx="0" cy="2286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347" name="Line 11"/>
          <p:cNvSpPr>
            <a:spLocks noChangeShapeType="1"/>
          </p:cNvSpPr>
          <p:nvPr/>
        </p:nvSpPr>
        <p:spPr bwMode="auto">
          <a:xfrm>
            <a:off x="1074738" y="3708400"/>
            <a:ext cx="160020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48" name="Text Box 12"/>
          <p:cNvSpPr txBox="1">
            <a:spLocks noChangeArrowheads="1"/>
          </p:cNvSpPr>
          <p:nvPr/>
        </p:nvSpPr>
        <p:spPr bwMode="auto">
          <a:xfrm>
            <a:off x="2659063" y="5121275"/>
            <a:ext cx="12160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i="1"/>
              <a:t>Demand</a:t>
            </a:r>
          </a:p>
        </p:txBody>
      </p:sp>
      <p:sp>
        <p:nvSpPr>
          <p:cNvPr id="14350" name="WordArt 14"/>
          <p:cNvSpPr>
            <a:spLocks noChangeArrowheads="1" noChangeShapeType="1" noTextEdit="1"/>
          </p:cNvSpPr>
          <p:nvPr/>
        </p:nvSpPr>
        <p:spPr bwMode="auto">
          <a:xfrm>
            <a:off x="5295900" y="2971800"/>
            <a:ext cx="2941638" cy="546100"/>
          </a:xfrm>
          <a:prstGeom prst="rect">
            <a:avLst/>
          </a:prstGeom>
        </p:spPr>
        <p:txBody>
          <a:bodyPr wrap="none" fromWordArt="1">
            <a:prstTxWarp prst="textTriangle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solidFill>
                  <a:srgbClr val="FF0000"/>
                </a:solidFill>
                <a:effectLst>
                  <a:outerShdw dist="53882" dir="2700000" algn="ctr" rotWithShape="0">
                    <a:srgbClr val="C0C0C0"/>
                  </a:outerShdw>
                </a:effectLst>
                <a:latin typeface="Times New Roman"/>
                <a:cs typeface="Times New Roman"/>
              </a:rPr>
              <a:t>The Supply of New Housing</a:t>
            </a:r>
          </a:p>
        </p:txBody>
      </p:sp>
      <p:sp>
        <p:nvSpPr>
          <p:cNvPr id="14351" name="WordArt 15"/>
          <p:cNvSpPr>
            <a:spLocks noChangeArrowheads="1" noChangeShapeType="1" noTextEdit="1"/>
          </p:cNvSpPr>
          <p:nvPr/>
        </p:nvSpPr>
        <p:spPr bwMode="auto">
          <a:xfrm>
            <a:off x="1227138" y="2819400"/>
            <a:ext cx="2659062" cy="914400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CanDown">
              <a:avLst>
                <a:gd name="adj" fmla="val 33333"/>
              </a:avLst>
            </a:prstTxWarp>
          </a:bodyPr>
          <a:lstStyle/>
          <a:p>
            <a:pPr algn="ctr"/>
            <a:r>
              <a:rPr lang="en-US" sz="3200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0000"/>
                </a:solidFill>
                <a:latin typeface="Times New Roman"/>
                <a:cs typeface="Times New Roman"/>
              </a:rPr>
              <a:t>The Market for Housing</a:t>
            </a:r>
          </a:p>
        </p:txBody>
      </p:sp>
      <p:sp>
        <p:nvSpPr>
          <p:cNvPr id="14352" name="Text Box 16"/>
          <p:cNvSpPr txBox="1">
            <a:spLocks noChangeArrowheads="1"/>
          </p:cNvSpPr>
          <p:nvPr/>
        </p:nvSpPr>
        <p:spPr bwMode="auto">
          <a:xfrm rot="-5374645">
            <a:off x="-438944" y="3956844"/>
            <a:ext cx="2157413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Relative Price </a:t>
            </a:r>
          </a:p>
          <a:p>
            <a:r>
              <a:rPr lang="en-US" altLang="en-US"/>
              <a:t>of housing </a:t>
            </a:r>
            <a:r>
              <a:rPr lang="en-US" altLang="en-US" i="1"/>
              <a:t>P</a:t>
            </a:r>
            <a:r>
              <a:rPr lang="en-US" altLang="en-US" baseline="-25000"/>
              <a:t>H</a:t>
            </a:r>
            <a:r>
              <a:rPr lang="en-US" altLang="en-US" i="1"/>
              <a:t>/P</a:t>
            </a:r>
          </a:p>
        </p:txBody>
      </p:sp>
      <p:sp>
        <p:nvSpPr>
          <p:cNvPr id="14353" name="Text Box 17"/>
          <p:cNvSpPr txBox="1">
            <a:spLocks noChangeArrowheads="1"/>
          </p:cNvSpPr>
          <p:nvPr/>
        </p:nvSpPr>
        <p:spPr bwMode="auto">
          <a:xfrm rot="25355">
            <a:off x="4510088" y="3267075"/>
            <a:ext cx="7858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i="1"/>
              <a:t>P</a:t>
            </a:r>
            <a:r>
              <a:rPr lang="en-US" altLang="en-US" baseline="-25000"/>
              <a:t>H</a:t>
            </a:r>
            <a:r>
              <a:rPr lang="en-US" altLang="en-US"/>
              <a:t>/</a:t>
            </a:r>
            <a:r>
              <a:rPr lang="en-US" altLang="en-US" i="1"/>
              <a:t>P</a:t>
            </a:r>
          </a:p>
        </p:txBody>
      </p:sp>
      <p:sp>
        <p:nvSpPr>
          <p:cNvPr id="14355" name="Oval 19"/>
          <p:cNvSpPr>
            <a:spLocks noChangeArrowheads="1"/>
          </p:cNvSpPr>
          <p:nvPr/>
        </p:nvSpPr>
        <p:spPr bwMode="auto">
          <a:xfrm>
            <a:off x="1795463" y="4470400"/>
            <a:ext cx="76200" cy="762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363" name="Line 27"/>
          <p:cNvSpPr>
            <a:spLocks noChangeShapeType="1"/>
          </p:cNvSpPr>
          <p:nvPr/>
        </p:nvSpPr>
        <p:spPr bwMode="auto">
          <a:xfrm>
            <a:off x="6345238" y="4521200"/>
            <a:ext cx="0" cy="11430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67" name="Text Box 31"/>
          <p:cNvSpPr txBox="1">
            <a:spLocks noChangeArrowheads="1"/>
          </p:cNvSpPr>
          <p:nvPr/>
        </p:nvSpPr>
        <p:spPr bwMode="auto">
          <a:xfrm>
            <a:off x="174625" y="1219200"/>
            <a:ext cx="7990521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dirty="0"/>
              <a:t>The relative price of housing adjusts to equilibrate supply and demand </a:t>
            </a:r>
          </a:p>
          <a:p>
            <a:r>
              <a:rPr lang="en-US" altLang="en-US" sz="2400" dirty="0"/>
              <a:t>for the existing stock of housing capital.  The relative price then</a:t>
            </a:r>
          </a:p>
          <a:p>
            <a:r>
              <a:rPr lang="en-US" altLang="en-US" sz="2400" dirty="0"/>
              <a:t>determines residential investment, the flow of new housing that </a:t>
            </a:r>
          </a:p>
          <a:p>
            <a:r>
              <a:rPr lang="en-US" altLang="en-US" sz="2400" dirty="0"/>
              <a:t>construction firms build</a:t>
            </a:r>
            <a:r>
              <a:rPr lang="en-US" altLang="en-US" dirty="0"/>
              <a:t>. </a:t>
            </a:r>
          </a:p>
        </p:txBody>
      </p:sp>
      <p:sp>
        <p:nvSpPr>
          <p:cNvPr id="14369" name="Text Box 33"/>
          <p:cNvSpPr txBox="1">
            <a:spLocks noChangeArrowheads="1"/>
          </p:cNvSpPr>
          <p:nvPr/>
        </p:nvSpPr>
        <p:spPr bwMode="auto">
          <a:xfrm>
            <a:off x="746125" y="5603875"/>
            <a:ext cx="3636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Stock of housing capital, </a:t>
            </a:r>
            <a:r>
              <a:rPr lang="en-US" altLang="en-US" i="1"/>
              <a:t>K</a:t>
            </a:r>
            <a:r>
              <a:rPr lang="en-US" altLang="en-US" baseline="-25000"/>
              <a:t>H</a:t>
            </a:r>
          </a:p>
        </p:txBody>
      </p:sp>
      <p:sp>
        <p:nvSpPr>
          <p:cNvPr id="14370" name="Text Box 34"/>
          <p:cNvSpPr txBox="1">
            <a:spLocks noChangeArrowheads="1"/>
          </p:cNvSpPr>
          <p:nvPr/>
        </p:nvSpPr>
        <p:spPr bwMode="auto">
          <a:xfrm>
            <a:off x="4795838" y="5638800"/>
            <a:ext cx="42957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Flow of residential investment, </a:t>
            </a:r>
            <a:r>
              <a:rPr lang="en-US" altLang="en-US" i="1"/>
              <a:t>I</a:t>
            </a:r>
            <a:r>
              <a:rPr lang="en-US" altLang="en-US" baseline="-25000"/>
              <a:t>H</a:t>
            </a:r>
          </a:p>
        </p:txBody>
      </p:sp>
      <p:sp>
        <p:nvSpPr>
          <p:cNvPr id="14372" name="Line 36"/>
          <p:cNvSpPr>
            <a:spLocks noChangeShapeType="1"/>
          </p:cNvSpPr>
          <p:nvPr/>
        </p:nvSpPr>
        <p:spPr bwMode="auto">
          <a:xfrm>
            <a:off x="1081088" y="4529138"/>
            <a:ext cx="52578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057400" y="152400"/>
            <a:ext cx="5715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III Residential </a:t>
            </a:r>
            <a:r>
              <a:rPr lang="en-US" sz="40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investment</a:t>
            </a:r>
          </a:p>
        </p:txBody>
      </p:sp>
    </p:spTree>
    <p:extLst>
      <p:ext uri="{BB962C8B-B14F-4D97-AF65-F5344CB8AC3E}">
        <p14:creationId xmlns:p14="http://schemas.microsoft.com/office/powerpoint/2010/main" val="3608978171"/>
      </p:ext>
    </p:extLst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390" name="Object 30"/>
          <p:cNvGraphicFramePr>
            <a:graphicFrameLocks/>
          </p:cNvGraphicFramePr>
          <p:nvPr/>
        </p:nvGraphicFramePr>
        <p:xfrm>
          <a:off x="965200" y="533400"/>
          <a:ext cx="7213600" cy="561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3" name="ClipArt" r:id="rId3" imgW="1749240" imgH="1180800" progId="MS_ClipArt_Gallery.2">
                  <p:embed/>
                </p:oleObj>
              </mc:Choice>
              <mc:Fallback>
                <p:oleObj name="ClipArt" r:id="rId3" imgW="1749240" imgH="1180800" progId="MS_ClipArt_Gallery.2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lum bright="70000" contrast="-7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5200" y="533400"/>
                        <a:ext cx="7213600" cy="561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>
                        <a:outerShdw dist="107763" dir="2700000" algn="ctr" rotWithShape="0">
                          <a:schemeClr val="bg2"/>
                        </a:outerShdw>
                      </a:effectLst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3" name="Line 3"/>
          <p:cNvSpPr>
            <a:spLocks noChangeShapeType="1"/>
          </p:cNvSpPr>
          <p:nvPr/>
        </p:nvSpPr>
        <p:spPr bwMode="auto">
          <a:xfrm flipV="1">
            <a:off x="5334000" y="3657600"/>
            <a:ext cx="1905000" cy="1752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64" name="Line 4"/>
          <p:cNvSpPr>
            <a:spLocks noChangeShapeType="1"/>
          </p:cNvSpPr>
          <p:nvPr/>
        </p:nvSpPr>
        <p:spPr bwMode="auto">
          <a:xfrm>
            <a:off x="1752600" y="3657600"/>
            <a:ext cx="0" cy="1981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65" name="Line 5"/>
          <p:cNvSpPr>
            <a:spLocks noChangeShapeType="1"/>
          </p:cNvSpPr>
          <p:nvPr/>
        </p:nvSpPr>
        <p:spPr bwMode="auto">
          <a:xfrm rot="5400000">
            <a:off x="6311900" y="4543425"/>
            <a:ext cx="0" cy="2286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66" name="Line 6"/>
          <p:cNvSpPr>
            <a:spLocks noChangeShapeType="1"/>
          </p:cNvSpPr>
          <p:nvPr/>
        </p:nvSpPr>
        <p:spPr bwMode="auto">
          <a:xfrm>
            <a:off x="5168900" y="3400425"/>
            <a:ext cx="0" cy="2286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67" name="Oval 7"/>
          <p:cNvSpPr>
            <a:spLocks noChangeArrowheads="1"/>
          </p:cNvSpPr>
          <p:nvPr/>
        </p:nvSpPr>
        <p:spPr bwMode="auto">
          <a:xfrm>
            <a:off x="6235700" y="4495800"/>
            <a:ext cx="76200" cy="762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69" name="Line 9"/>
          <p:cNvSpPr>
            <a:spLocks noChangeShapeType="1"/>
          </p:cNvSpPr>
          <p:nvPr/>
        </p:nvSpPr>
        <p:spPr bwMode="auto">
          <a:xfrm rot="5400000">
            <a:off x="2141538" y="4530725"/>
            <a:ext cx="0" cy="2286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70" name="Line 10"/>
          <p:cNvSpPr>
            <a:spLocks noChangeShapeType="1"/>
          </p:cNvSpPr>
          <p:nvPr/>
        </p:nvSpPr>
        <p:spPr bwMode="auto">
          <a:xfrm>
            <a:off x="998538" y="3387725"/>
            <a:ext cx="0" cy="2286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71" name="Line 11"/>
          <p:cNvSpPr>
            <a:spLocks noChangeShapeType="1"/>
          </p:cNvSpPr>
          <p:nvPr/>
        </p:nvSpPr>
        <p:spPr bwMode="auto">
          <a:xfrm>
            <a:off x="998538" y="3708400"/>
            <a:ext cx="160020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72" name="Text Box 12"/>
          <p:cNvSpPr txBox="1">
            <a:spLocks noChangeArrowheads="1"/>
          </p:cNvSpPr>
          <p:nvPr/>
        </p:nvSpPr>
        <p:spPr bwMode="auto">
          <a:xfrm>
            <a:off x="2582863" y="5121275"/>
            <a:ext cx="12160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i="1"/>
              <a:t>Demand</a:t>
            </a:r>
          </a:p>
        </p:txBody>
      </p:sp>
      <p:sp>
        <p:nvSpPr>
          <p:cNvPr id="15373" name="WordArt 13"/>
          <p:cNvSpPr>
            <a:spLocks noChangeArrowheads="1" noChangeShapeType="1" noTextEdit="1"/>
          </p:cNvSpPr>
          <p:nvPr/>
        </p:nvSpPr>
        <p:spPr bwMode="auto">
          <a:xfrm>
            <a:off x="5219700" y="2971800"/>
            <a:ext cx="2941638" cy="546100"/>
          </a:xfrm>
          <a:prstGeom prst="rect">
            <a:avLst/>
          </a:prstGeom>
        </p:spPr>
        <p:txBody>
          <a:bodyPr wrap="none" fromWordArt="1">
            <a:prstTxWarp prst="textTriangle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solidFill>
                  <a:srgbClr val="FF0000"/>
                </a:solidFill>
                <a:effectLst>
                  <a:outerShdw dist="53882" dir="2700000" algn="ctr" rotWithShape="0">
                    <a:srgbClr val="C0C0C0"/>
                  </a:outerShdw>
                </a:effectLst>
                <a:latin typeface="Times New Roman"/>
                <a:cs typeface="Times New Roman"/>
              </a:rPr>
              <a:t>The Supply of New Housing</a:t>
            </a:r>
          </a:p>
        </p:txBody>
      </p:sp>
      <p:sp>
        <p:nvSpPr>
          <p:cNvPr id="15374" name="WordArt 14"/>
          <p:cNvSpPr>
            <a:spLocks noChangeArrowheads="1" noChangeShapeType="1" noTextEdit="1"/>
          </p:cNvSpPr>
          <p:nvPr/>
        </p:nvSpPr>
        <p:spPr bwMode="auto">
          <a:xfrm>
            <a:off x="1150938" y="2819400"/>
            <a:ext cx="2659062" cy="914400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CanDown">
              <a:avLst>
                <a:gd name="adj" fmla="val 33333"/>
              </a:avLst>
            </a:prstTxWarp>
          </a:bodyPr>
          <a:lstStyle/>
          <a:p>
            <a:pPr algn="ctr"/>
            <a:r>
              <a:rPr lang="en-US" sz="32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0000"/>
                </a:solidFill>
                <a:latin typeface="Times New Roman"/>
                <a:cs typeface="Times New Roman"/>
              </a:rPr>
              <a:t>The Market for Housing</a:t>
            </a:r>
          </a:p>
        </p:txBody>
      </p:sp>
      <p:sp>
        <p:nvSpPr>
          <p:cNvPr id="15375" name="Text Box 15"/>
          <p:cNvSpPr txBox="1">
            <a:spLocks noChangeArrowheads="1"/>
          </p:cNvSpPr>
          <p:nvPr/>
        </p:nvSpPr>
        <p:spPr bwMode="auto">
          <a:xfrm rot="-5374645">
            <a:off x="-515144" y="3956844"/>
            <a:ext cx="2157413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Relative Price </a:t>
            </a:r>
          </a:p>
          <a:p>
            <a:r>
              <a:rPr lang="en-US" altLang="en-US"/>
              <a:t>of housing </a:t>
            </a:r>
            <a:r>
              <a:rPr lang="en-US" altLang="en-US" i="1"/>
              <a:t>P</a:t>
            </a:r>
            <a:r>
              <a:rPr lang="en-US" altLang="en-US" baseline="-25000"/>
              <a:t>H</a:t>
            </a:r>
            <a:r>
              <a:rPr lang="en-US" altLang="en-US"/>
              <a:t>/</a:t>
            </a:r>
            <a:r>
              <a:rPr lang="en-US" altLang="en-US" i="1"/>
              <a:t>P</a:t>
            </a:r>
          </a:p>
        </p:txBody>
      </p:sp>
      <p:sp>
        <p:nvSpPr>
          <p:cNvPr id="15376" name="Text Box 16"/>
          <p:cNvSpPr txBox="1">
            <a:spLocks noChangeArrowheads="1"/>
          </p:cNvSpPr>
          <p:nvPr/>
        </p:nvSpPr>
        <p:spPr bwMode="auto">
          <a:xfrm rot="25355">
            <a:off x="4433888" y="3267075"/>
            <a:ext cx="7858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i="1"/>
              <a:t>P</a:t>
            </a:r>
            <a:r>
              <a:rPr lang="en-US" altLang="en-US" baseline="-25000"/>
              <a:t>H</a:t>
            </a:r>
            <a:r>
              <a:rPr lang="en-US" altLang="en-US"/>
              <a:t>/</a:t>
            </a:r>
            <a:r>
              <a:rPr lang="en-US" altLang="en-US" i="1"/>
              <a:t>P</a:t>
            </a:r>
          </a:p>
        </p:txBody>
      </p:sp>
      <p:sp>
        <p:nvSpPr>
          <p:cNvPr id="15377" name="Oval 17"/>
          <p:cNvSpPr>
            <a:spLocks noChangeArrowheads="1"/>
          </p:cNvSpPr>
          <p:nvPr/>
        </p:nvSpPr>
        <p:spPr bwMode="auto">
          <a:xfrm>
            <a:off x="1719263" y="4470400"/>
            <a:ext cx="76200" cy="762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78" name="Line 18"/>
          <p:cNvSpPr>
            <a:spLocks noChangeShapeType="1"/>
          </p:cNvSpPr>
          <p:nvPr/>
        </p:nvSpPr>
        <p:spPr bwMode="auto">
          <a:xfrm>
            <a:off x="6269038" y="4521200"/>
            <a:ext cx="0" cy="11430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79" name="Text Box 19"/>
          <p:cNvSpPr txBox="1">
            <a:spLocks noChangeArrowheads="1"/>
          </p:cNvSpPr>
          <p:nvPr/>
        </p:nvSpPr>
        <p:spPr bwMode="auto">
          <a:xfrm>
            <a:off x="669925" y="5638800"/>
            <a:ext cx="3636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Stock of housing capital, </a:t>
            </a:r>
            <a:r>
              <a:rPr lang="en-US" altLang="en-US" i="1"/>
              <a:t>K</a:t>
            </a:r>
            <a:r>
              <a:rPr lang="en-US" altLang="en-US" baseline="-25000"/>
              <a:t>H</a:t>
            </a:r>
          </a:p>
        </p:txBody>
      </p:sp>
      <p:sp>
        <p:nvSpPr>
          <p:cNvPr id="15380" name="Text Box 20"/>
          <p:cNvSpPr txBox="1">
            <a:spLocks noChangeArrowheads="1"/>
          </p:cNvSpPr>
          <p:nvPr/>
        </p:nvSpPr>
        <p:spPr bwMode="auto">
          <a:xfrm>
            <a:off x="4719638" y="5638800"/>
            <a:ext cx="42957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Flow of residential investment,</a:t>
            </a:r>
            <a:r>
              <a:rPr lang="en-US" altLang="en-US" i="1"/>
              <a:t> I</a:t>
            </a:r>
            <a:r>
              <a:rPr lang="en-US" altLang="en-US" baseline="-25000"/>
              <a:t>H</a:t>
            </a:r>
          </a:p>
        </p:txBody>
      </p:sp>
      <p:sp>
        <p:nvSpPr>
          <p:cNvPr id="15381" name="Line 21"/>
          <p:cNvSpPr>
            <a:spLocks noChangeShapeType="1"/>
          </p:cNvSpPr>
          <p:nvPr/>
        </p:nvSpPr>
        <p:spPr bwMode="auto">
          <a:xfrm>
            <a:off x="1004888" y="4529138"/>
            <a:ext cx="52578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82" name="Line 22"/>
          <p:cNvSpPr>
            <a:spLocks noChangeShapeType="1"/>
          </p:cNvSpPr>
          <p:nvPr/>
        </p:nvSpPr>
        <p:spPr bwMode="auto">
          <a:xfrm>
            <a:off x="1150938" y="3276600"/>
            <a:ext cx="160020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83" name="Oval 23"/>
          <p:cNvSpPr>
            <a:spLocks noChangeArrowheads="1"/>
          </p:cNvSpPr>
          <p:nvPr/>
        </p:nvSpPr>
        <p:spPr bwMode="auto">
          <a:xfrm>
            <a:off x="6945313" y="3852863"/>
            <a:ext cx="76200" cy="762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84" name="Oval 24"/>
          <p:cNvSpPr>
            <a:spLocks noChangeArrowheads="1"/>
          </p:cNvSpPr>
          <p:nvPr/>
        </p:nvSpPr>
        <p:spPr bwMode="auto">
          <a:xfrm>
            <a:off x="1714500" y="3857625"/>
            <a:ext cx="76200" cy="762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86" name="Line 26"/>
          <p:cNvSpPr>
            <a:spLocks noChangeShapeType="1"/>
          </p:cNvSpPr>
          <p:nvPr/>
        </p:nvSpPr>
        <p:spPr bwMode="auto">
          <a:xfrm>
            <a:off x="1028700" y="3886200"/>
            <a:ext cx="5943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87" name="Text Box 27"/>
          <p:cNvSpPr txBox="1">
            <a:spLocks noChangeArrowheads="1"/>
          </p:cNvSpPr>
          <p:nvPr/>
        </p:nvSpPr>
        <p:spPr bwMode="auto">
          <a:xfrm>
            <a:off x="228600" y="1143000"/>
            <a:ext cx="7904728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dirty="0"/>
              <a:t>When the demand for housing shifts, the equilibrium price of housing</a:t>
            </a:r>
          </a:p>
          <a:p>
            <a:r>
              <a:rPr lang="en-US" altLang="en-US" sz="2400" dirty="0"/>
              <a:t>changes, and this change in turn affects residential investment. </a:t>
            </a:r>
          </a:p>
          <a:p>
            <a:r>
              <a:rPr lang="en-US" altLang="en-US" sz="2400" dirty="0"/>
              <a:t>An increase in housing demand, perhaps due to a fall in the interest</a:t>
            </a:r>
          </a:p>
          <a:p>
            <a:r>
              <a:rPr lang="en-US" altLang="en-US" sz="2400" dirty="0"/>
              <a:t>rate, raises housing prices and residential investment.</a:t>
            </a:r>
          </a:p>
        </p:txBody>
      </p:sp>
      <p:sp>
        <p:nvSpPr>
          <p:cNvPr id="15388" name="Line 28"/>
          <p:cNvSpPr>
            <a:spLocks noChangeShapeType="1"/>
          </p:cNvSpPr>
          <p:nvPr/>
        </p:nvSpPr>
        <p:spPr bwMode="auto">
          <a:xfrm flipV="1">
            <a:off x="1905000" y="4267200"/>
            <a:ext cx="152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89" name="Rectangle 29"/>
          <p:cNvSpPr>
            <a:spLocks noChangeArrowheads="1"/>
          </p:cNvSpPr>
          <p:nvPr/>
        </p:nvSpPr>
        <p:spPr bwMode="auto">
          <a:xfrm>
            <a:off x="2724150" y="4724400"/>
            <a:ext cx="12715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i="1"/>
              <a:t>Demand</a:t>
            </a:r>
            <a:r>
              <a:rPr lang="en-US" altLang="en-US">
                <a:cs typeface="Times New Roman" pitchFamily="18" charset="0"/>
              </a:rPr>
              <a:t>'</a:t>
            </a:r>
            <a:endParaRPr lang="en-US" altLang="en-US"/>
          </a:p>
        </p:txBody>
      </p:sp>
      <p:sp>
        <p:nvSpPr>
          <p:cNvPr id="29" name="TextBox 28"/>
          <p:cNvSpPr txBox="1"/>
          <p:nvPr/>
        </p:nvSpPr>
        <p:spPr>
          <a:xfrm>
            <a:off x="1804050" y="152400"/>
            <a:ext cx="5715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III Residential </a:t>
            </a:r>
            <a:r>
              <a:rPr lang="en-US" sz="40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investment</a:t>
            </a:r>
          </a:p>
        </p:txBody>
      </p:sp>
    </p:spTree>
    <p:extLst>
      <p:ext uri="{BB962C8B-B14F-4D97-AF65-F5344CB8AC3E}">
        <p14:creationId xmlns:p14="http://schemas.microsoft.com/office/powerpoint/2010/main" val="2137274146"/>
      </p:ext>
    </p:extLst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838200" y="152400"/>
            <a:ext cx="7772400" cy="1143000"/>
          </a:xfrm>
          <a:prstGeom prst="rect">
            <a:avLst/>
          </a:prstGeom>
        </p:spPr>
        <p:txBody>
          <a:bodyPr/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III Residential investment</a:t>
            </a:r>
          </a:p>
          <a:p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381000" y="914400"/>
            <a:ext cx="83820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3000" b="1" u="sng" dirty="0" smtClean="0"/>
              <a:t>Factors affect residential housing investment </a:t>
            </a:r>
          </a:p>
          <a:p>
            <a:r>
              <a:rPr lang="en-US" altLang="en-US" sz="3000" dirty="0" smtClean="0"/>
              <a:t>1) An </a:t>
            </a:r>
            <a:r>
              <a:rPr lang="en-US" altLang="en-US" sz="3000" dirty="0"/>
              <a:t>increase in the </a:t>
            </a:r>
            <a:r>
              <a:rPr lang="en-US" altLang="en-US" sz="3000" i="1" dirty="0"/>
              <a:t>interest rate </a:t>
            </a:r>
            <a:r>
              <a:rPr lang="en-US" altLang="en-US" sz="3000" dirty="0"/>
              <a:t>increases the cost of borrowing </a:t>
            </a:r>
            <a:r>
              <a:rPr lang="en-US" altLang="en-US" sz="3000" dirty="0" smtClean="0"/>
              <a:t> for </a:t>
            </a:r>
            <a:r>
              <a:rPr lang="en-US" altLang="en-US" sz="3000" dirty="0"/>
              <a:t>home buyers and reduces residential housing investment.</a:t>
            </a:r>
          </a:p>
          <a:p>
            <a:r>
              <a:rPr lang="en-US" altLang="en-US" sz="3000" dirty="0"/>
              <a:t>2) An increase in </a:t>
            </a:r>
            <a:r>
              <a:rPr lang="en-US" altLang="en-US" sz="3000" i="1" dirty="0"/>
              <a:t>population</a:t>
            </a:r>
            <a:r>
              <a:rPr lang="en-US" altLang="en-US" sz="3000" dirty="0"/>
              <a:t> and </a:t>
            </a:r>
            <a:r>
              <a:rPr lang="en-US" altLang="en-US" sz="3000" i="1" dirty="0"/>
              <a:t>tax policies </a:t>
            </a:r>
            <a:r>
              <a:rPr lang="en-US" altLang="en-US" sz="3000" dirty="0"/>
              <a:t>shift the residential </a:t>
            </a:r>
            <a:r>
              <a:rPr lang="en-US" altLang="en-US" sz="3000" dirty="0" smtClean="0"/>
              <a:t> housing-investment </a:t>
            </a:r>
            <a:r>
              <a:rPr lang="en-US" altLang="en-US" sz="3000" dirty="0"/>
              <a:t>function.</a:t>
            </a:r>
          </a:p>
          <a:p>
            <a:r>
              <a:rPr lang="en-US" altLang="en-US" sz="3000" dirty="0"/>
              <a:t>3) In a boom, higher </a:t>
            </a:r>
            <a:r>
              <a:rPr lang="en-US" altLang="en-US" sz="3000" i="1" dirty="0"/>
              <a:t>income</a:t>
            </a:r>
            <a:r>
              <a:rPr lang="en-US" altLang="en-US" sz="3000" dirty="0"/>
              <a:t> raises the demand for housing </a:t>
            </a:r>
            <a:r>
              <a:rPr lang="en-US" altLang="en-US" sz="3000" dirty="0" smtClean="0"/>
              <a:t>and increases </a:t>
            </a:r>
            <a:r>
              <a:rPr lang="en-US" altLang="en-US" sz="3000" dirty="0"/>
              <a:t>residential investment.</a:t>
            </a:r>
          </a:p>
          <a:p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2818176234"/>
      </p:ext>
    </p:extLst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129</TotalTime>
  <Words>1322</Words>
  <Application>Microsoft Office PowerPoint</Application>
  <PresentationFormat>On-screen Show (4:3)</PresentationFormat>
  <Paragraphs>138</Paragraphs>
  <Slides>18</Slides>
  <Notes>1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Equity</vt:lpstr>
      <vt:lpstr>Equation</vt:lpstr>
      <vt:lpstr>ClipArt</vt:lpstr>
      <vt:lpstr>Neoclassical theory of fixed investment</vt:lpstr>
      <vt:lpstr>Content</vt:lpstr>
      <vt:lpstr>Three types of investment spending</vt:lpstr>
      <vt:lpstr>I Business fixed investment </vt:lpstr>
      <vt:lpstr>I Business fixed investment </vt:lpstr>
      <vt:lpstr>I Business fixed investment </vt:lpstr>
      <vt:lpstr>I Business fixed investment </vt:lpstr>
      <vt:lpstr>I Business fixed investment </vt:lpstr>
      <vt:lpstr>I Business fixed investment </vt:lpstr>
      <vt:lpstr>II Inventory investment</vt:lpstr>
      <vt:lpstr>II Inventory investment</vt:lpstr>
      <vt:lpstr>II Inventory investment</vt:lpstr>
      <vt:lpstr>II Inventory investment</vt:lpstr>
      <vt:lpstr>II Inventory investment</vt:lpstr>
      <vt:lpstr>III Residential investment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Neoclassical theory of fixed investment</dc:title>
  <dc:creator>Truong</dc:creator>
  <cp:lastModifiedBy>Truong</cp:lastModifiedBy>
  <cp:revision>11</cp:revision>
  <dcterms:created xsi:type="dcterms:W3CDTF">2014-02-20T23:50:20Z</dcterms:created>
  <dcterms:modified xsi:type="dcterms:W3CDTF">2014-02-22T04:21:12Z</dcterms:modified>
</cp:coreProperties>
</file>